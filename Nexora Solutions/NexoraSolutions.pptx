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635240" y="-1188720"/>
            <a:ext cx="6949440" cy="9235440"/>
          </a:xfrm>
          <a:prstGeom prst="roundRect">
            <a:avLst>
              <a:gd name="adj" fmla="val 3947"/>
            </a:avLst>
          </a:prstGeom>
          <a:solidFill>
            <a:srgbClr val="16263F">
              <a:alpha val="6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052560" y="2148840"/>
            <a:ext cx="256032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3716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 · CIBERSEGURIDAD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65960"/>
            <a:ext cx="7498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 implementación de un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de auditoría de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corporativa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31520" y="4069080"/>
            <a:ext cx="219456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práctico: </a:t>
            </a:r>
            <a:pPr indent="0" marL="0">
              <a:buNone/>
            </a:pPr>
            <a:r>
              <a:rPr lang="en-US" sz="19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Solutions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 Sanz Gallego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Denise Aldaba Fernández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INTECSSA · Máster en Ciberseguridad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contenidos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diagrama · vulnerabilidades · pentesting con evidencias · hardening · SIEM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709928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01952"/>
            <a:ext cx="393192" cy="3931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843784" y="165506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44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2432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9008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Virtualización, arquitectura y diagrama de red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06824" y="141732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6864" y="1709928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901952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647688" y="165506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44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4626864" y="262432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4626864" y="299008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hallazgos por máquina y severidad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10728" y="141732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30768" y="1709928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901952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451592" y="165506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44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8430768" y="262432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de red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430768" y="299008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protocolos entre las máquinas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02920" y="38862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2960" y="4178808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370832"/>
            <a:ext cx="393192" cy="39319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843784" y="412394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44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09320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Pentesting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4589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Metodología, arsenal y evidencias de ataque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306824" y="38862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626864" y="4178808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370832"/>
            <a:ext cx="393192" cy="39319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647688" y="412394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44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35" name="Text 28"/>
          <p:cNvSpPr txBox="1"/>
          <p:nvPr/>
        </p:nvSpPr>
        <p:spPr>
          <a:xfrm>
            <a:off x="4626864" y="509320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4626864" y="54589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Contramedidas por nodo y verificación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8110728" y="38862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430768" y="4178808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370832"/>
            <a:ext cx="393192" cy="39319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451592" y="412394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44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41" name="Text 33"/>
          <p:cNvSpPr txBox="1"/>
          <p:nvPr/>
        </p:nvSpPr>
        <p:spPr>
          <a:xfrm>
            <a:off x="8430768" y="509320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y cierre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8430768" y="545896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Wazuh, resultados y remediación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implementada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 mixta: máquinas completas conviviendo con servicios contenerizados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76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VirtualBox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9019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 tipo 2. Redes internas aisladas del anfitrión y de Internet, con varias NIC por máquina para actuar de cortafuegos.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92608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8211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34564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capa de contenerización. Tres servicios de empresa como contenedores: uso eficiente de recursos y despliegue reproducible.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448056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" y="46177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218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920240" y="448056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920240" y="46177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1965960" y="53218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37560" y="4480560"/>
            <a:ext cx="1298448" cy="1371600"/>
          </a:xfrm>
          <a:prstGeom prst="roundRect">
            <a:avLst>
              <a:gd name="adj" fmla="val 6338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337560" y="46177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16–32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3383280" y="532180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RAM host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892040" y="1371600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SISTEMAS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37360"/>
          <a:ext cx="68122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731520"/>
                <a:gridCol w="1965960"/>
                <a:gridCol w="196596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0A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0A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0A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operativo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b="1" dirty="0">
                          <a:solidFill>
                            <a:srgbClr val="0A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/ Servicios base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 24.04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nftables · DHCP · DNS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interno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Rocky Linux 9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· SMB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auditora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Pentesting (red team)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 SIEM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Hat Linux 9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Wazuh · monitorización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de contenedores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mínima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· DMZ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web y BD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Fedora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HTTP/HTTPS · MariaDB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y ficheros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CentOS Stream 9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 · SMTP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Directorio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AlmaLinux 9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 · SNMP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segmentación de red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zonas aisladas, interconectadas por un cortafuegos nftables con política default-deny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65506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5875">
            <a:solidFill>
              <a:srgbClr val="F43F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013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514600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CONFIABLE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2404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atacante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2770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seg-atacante  </a:t>
            </a:r>
            <a:pPr indent="0" marL="0">
              <a:buNone/>
            </a:pPr>
            <a:r>
              <a:rPr lang="en-US" sz="12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10.10.99.0/24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auditora (.50)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.1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79392" y="141732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5424" y="165506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80136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91072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35424" y="2404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interna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535424" y="2770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seg-interna  </a:t>
            </a:r>
            <a:pPr indent="0" marL="0">
              <a:buNone/>
            </a:pPr>
            <a:r>
              <a:rPr lang="en-US" sz="12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10.10.20.0/24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535424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.10 · SIEM .20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.1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055864" y="141732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11896" y="165506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5875">
            <a:solidFill>
              <a:srgbClr val="FB923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0136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067544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8311896" y="2404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DMZ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311896" y="2770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seg-dmz  </a:t>
            </a:r>
            <a:pPr indent="0" marL="0">
              <a:buNone/>
            </a:pPr>
            <a:r>
              <a:rPr lang="en-US" sz="12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10.10.30.0/24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311896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+ 3 conten.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.1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02920" y="3977640"/>
            <a:ext cx="11201400" cy="868680"/>
          </a:xfrm>
          <a:prstGeom prst="roundRect">
            <a:avLst>
              <a:gd name="adj" fmla="val 9474"/>
            </a:avLst>
          </a:prstGeom>
          <a:solidFill>
            <a:srgbClr val="1D3151"/>
          </a:solidFill>
          <a:ln w="15875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0624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325880" y="3977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CORTAFUEGOS · Ubuntu Server (nftables)   </a:t>
            </a:r>
            <a:pPr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por defecto DENEGAR · enruta y filtra entre zonas · sirve DNS (53) y DHCP (67/68) a toda la red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02920" y="5074920"/>
            <a:ext cx="2724912" cy="1325880"/>
          </a:xfrm>
          <a:prstGeom prst="roundRect">
            <a:avLst>
              <a:gd name="adj" fmla="val 551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85800" y="52303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 total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85800" y="574243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conectividad con red doméstica ni Internet</a:t>
            </a:r>
            <a:endParaRPr lang="en-US" sz="1080" dirty="0"/>
          </a:p>
        </p:txBody>
      </p:sp>
      <p:sp>
        <p:nvSpPr>
          <p:cNvPr id="34" name="Shape 28"/>
          <p:cNvSpPr/>
          <p:nvPr/>
        </p:nvSpPr>
        <p:spPr>
          <a:xfrm>
            <a:off x="3319272" y="5074920"/>
            <a:ext cx="2724912" cy="1325880"/>
          </a:xfrm>
          <a:prstGeom prst="roundRect">
            <a:avLst>
              <a:gd name="adj" fmla="val 551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3502152" y="52303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en profundidad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3502152" y="574243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de un servicio no da acceso al resto</a:t>
            </a:r>
            <a:endParaRPr lang="en-US" sz="1080" dirty="0"/>
          </a:p>
        </p:txBody>
      </p:sp>
      <p:sp>
        <p:nvSpPr>
          <p:cNvPr id="37" name="Shape 31"/>
          <p:cNvSpPr/>
          <p:nvPr/>
        </p:nvSpPr>
        <p:spPr>
          <a:xfrm>
            <a:off x="6135624" y="5074920"/>
            <a:ext cx="2724912" cy="1325880"/>
          </a:xfrm>
          <a:prstGeom prst="roundRect">
            <a:avLst>
              <a:gd name="adj" fmla="val 551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318504" y="52303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 privilegio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6318504" y="574243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permite el tráfico explícitamente necesario</a:t>
            </a:r>
            <a:endParaRPr lang="en-US" sz="1080" dirty="0"/>
          </a:p>
        </p:txBody>
      </p:sp>
      <p:sp>
        <p:nvSpPr>
          <p:cNvPr id="40" name="Shape 34"/>
          <p:cNvSpPr/>
          <p:nvPr/>
        </p:nvSpPr>
        <p:spPr>
          <a:xfrm>
            <a:off x="8951976" y="5074920"/>
            <a:ext cx="2724912" cy="1325880"/>
          </a:xfrm>
          <a:prstGeom prst="roundRect">
            <a:avLst>
              <a:gd name="adj" fmla="val 551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134856" y="52303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Direccionamiento estático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9134856" y="574243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y registros de auditoría estables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la red del laboratorio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segmentos convergen en el cortafuegos Ubuntu; la línea discontinua es la telemetría Wazuh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6261" y="1371600"/>
            <a:ext cx="5394279" cy="4937760"/>
          </a:xfrm>
          <a:prstGeom prst="roundRect">
            <a:avLst>
              <a:gd name="adj" fmla="val 1111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989" y="1481328"/>
            <a:ext cx="5174823" cy="47183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417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DIAGRAMA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18928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43F5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823960" y="18379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Atacante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21671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.50 en seg-atacante, aislada en su propio segmento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58200" y="28254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60A5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23960" y="27706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309981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con una interfaz .1 por zona; enruta y filtra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58200" y="37581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8BDF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823960" y="3703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auditado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40325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y los 3 contenedores de la DMZ (macvlan)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58200" y="469087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4D39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823960" y="46360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(defensa)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49651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9 con Wazuh recibe telemetría de los agentes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458200" y="5806440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22792" y="580644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→ interna: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SMB = debilidad de segmentación introducida a propósito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vulnerabilidades · resumen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hallazgos en cinco nodos, catalogados por severidad, CVSS, CWE y OWASP Top 10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F43F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1810512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7556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88920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843784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822192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FBBF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77056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382219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855464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855464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38BD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4910328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485546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6035040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6035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1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ya correctos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0" y="1371600"/>
            <a:ext cx="3794760" cy="5120640"/>
          </a:xfrm>
          <a:prstGeom prst="roundRect">
            <a:avLst>
              <a:gd name="adj" fmla="val 216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57276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4828032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 Server (firewall)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343400" y="214884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UB-02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903720" y="21671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03720" y="21671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343400" y="24597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débil svc_monitor/monitor123</a:t>
            </a:r>
            <a:endParaRPr lang="en-US" sz="1030" dirty="0"/>
          </a:p>
        </p:txBody>
      </p:sp>
      <p:sp>
        <p:nvSpPr>
          <p:cNvPr id="33" name="Text 30"/>
          <p:cNvSpPr txBox="1"/>
          <p:nvPr/>
        </p:nvSpPr>
        <p:spPr>
          <a:xfrm>
            <a:off x="4343400" y="285750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UB-03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90372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90372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43400" y="31683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NOPASSWD:ALL en svc_monitor</a:t>
            </a:r>
            <a:endParaRPr lang="en-US" sz="1030" dirty="0"/>
          </a:p>
        </p:txBody>
      </p:sp>
      <p:sp>
        <p:nvSpPr>
          <p:cNvPr id="37" name="Text 34"/>
          <p:cNvSpPr txBox="1"/>
          <p:nvPr/>
        </p:nvSpPr>
        <p:spPr>
          <a:xfrm>
            <a:off x="4343400" y="356616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UB-06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903720" y="3584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903720" y="3584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4343400" y="3877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firewall → manipula nftables</a:t>
            </a:r>
            <a:endParaRPr lang="en-US" sz="1030" dirty="0"/>
          </a:p>
        </p:txBody>
      </p:sp>
      <p:sp>
        <p:nvSpPr>
          <p:cNvPr id="41" name="Text 38"/>
          <p:cNvSpPr txBox="1"/>
          <p:nvPr/>
        </p:nvSpPr>
        <p:spPr>
          <a:xfrm>
            <a:off x="4343400" y="427482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UB-01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903720" y="42931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903720" y="42931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343400" y="45857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 autenticación por contraseña</a:t>
            </a:r>
            <a:endParaRPr lang="en-US" sz="1030" dirty="0"/>
          </a:p>
        </p:txBody>
      </p:sp>
      <p:sp>
        <p:nvSpPr>
          <p:cNvPr id="45" name="Text 42"/>
          <p:cNvSpPr txBox="1"/>
          <p:nvPr/>
        </p:nvSpPr>
        <p:spPr>
          <a:xfrm>
            <a:off x="4343400" y="498348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UB-04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903720" y="50017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903720" y="50017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343400" y="52943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AXFR sin restricción — zona expuesta</a:t>
            </a:r>
            <a:endParaRPr lang="en-US" sz="1030" dirty="0"/>
          </a:p>
        </p:txBody>
      </p:sp>
      <p:sp>
        <p:nvSpPr>
          <p:cNvPr id="49" name="Text 46"/>
          <p:cNvSpPr txBox="1"/>
          <p:nvPr/>
        </p:nvSpPr>
        <p:spPr>
          <a:xfrm>
            <a:off x="4343400" y="569214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UB-05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903720" y="57104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903720" y="57104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4343400" y="60030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BIND divulgada en el banner</a:t>
            </a:r>
            <a:endParaRPr lang="en-US" sz="1030" dirty="0"/>
          </a:p>
        </p:txBody>
      </p:sp>
      <p:sp>
        <p:nvSpPr>
          <p:cNvPr id="53" name="Shape 50"/>
          <p:cNvSpPr/>
          <p:nvPr/>
        </p:nvSpPr>
        <p:spPr>
          <a:xfrm>
            <a:off x="8001000" y="1371600"/>
            <a:ext cx="3794760" cy="5120640"/>
          </a:xfrm>
          <a:prstGeom prst="roundRect">
            <a:avLst>
              <a:gd name="adj" fmla="val 216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72768"/>
            <a:ext cx="365760" cy="365760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8714232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Rocky Linux (ficheros)</a:t>
            </a:r>
            <a:endParaRPr lang="en-US" sz="1700" dirty="0"/>
          </a:p>
        </p:txBody>
      </p:sp>
      <p:sp>
        <p:nvSpPr>
          <p:cNvPr id="56" name="Text 52"/>
          <p:cNvSpPr txBox="1"/>
          <p:nvPr/>
        </p:nvSpPr>
        <p:spPr>
          <a:xfrm>
            <a:off x="8229600" y="214884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RK-02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10789920" y="21671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10789920" y="21671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8229600" y="24597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de credenciales LDAP→SMB</a:t>
            </a:r>
            <a:endParaRPr lang="en-US" sz="1030" dirty="0"/>
          </a:p>
        </p:txBody>
      </p:sp>
      <p:sp>
        <p:nvSpPr>
          <p:cNvPr id="60" name="Text 56"/>
          <p:cNvSpPr txBox="1"/>
          <p:nvPr/>
        </p:nvSpPr>
        <p:spPr>
          <a:xfrm>
            <a:off x="8229600" y="285750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RK-04</a:t>
            </a:r>
            <a:endParaRPr lang="en-US" sz="1050" dirty="0"/>
          </a:p>
        </p:txBody>
      </p:sp>
      <p:sp>
        <p:nvSpPr>
          <p:cNvPr id="61" name="Shape 57"/>
          <p:cNvSpPr/>
          <p:nvPr/>
        </p:nvSpPr>
        <p:spPr>
          <a:xfrm>
            <a:off x="1078992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1078992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8229600" y="31683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credenciales_servicios.txt en texto claro</a:t>
            </a:r>
            <a:endParaRPr lang="en-US" sz="1030" dirty="0"/>
          </a:p>
        </p:txBody>
      </p:sp>
      <p:sp>
        <p:nvSpPr>
          <p:cNvPr id="64" name="Text 60"/>
          <p:cNvSpPr txBox="1"/>
          <p:nvPr/>
        </p:nvSpPr>
        <p:spPr>
          <a:xfrm>
            <a:off x="8229600" y="356616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RK-05</a:t>
            </a:r>
            <a:endParaRPr lang="en-US" sz="1050" dirty="0"/>
          </a:p>
        </p:txBody>
      </p:sp>
      <p:sp>
        <p:nvSpPr>
          <p:cNvPr id="65" name="Shape 61"/>
          <p:cNvSpPr/>
          <p:nvPr/>
        </p:nvSpPr>
        <p:spPr>
          <a:xfrm>
            <a:off x="10789920" y="3584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10789920" y="3584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67" name="Text 63"/>
          <p:cNvSpPr txBox="1"/>
          <p:nvPr/>
        </p:nvSpPr>
        <p:spPr>
          <a:xfrm>
            <a:off x="8229600" y="3877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privada SSH expuesta (id_rsa)</a:t>
            </a:r>
            <a:endParaRPr lang="en-US" sz="1030" dirty="0"/>
          </a:p>
        </p:txBody>
      </p:sp>
      <p:sp>
        <p:nvSpPr>
          <p:cNvPr id="68" name="Text 64"/>
          <p:cNvSpPr txBox="1"/>
          <p:nvPr/>
        </p:nvSpPr>
        <p:spPr>
          <a:xfrm>
            <a:off x="8229600" y="427482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RK-01</a:t>
            </a:r>
            <a:endParaRPr lang="en-US" sz="1050" dirty="0"/>
          </a:p>
        </p:txBody>
      </p:sp>
      <p:sp>
        <p:nvSpPr>
          <p:cNvPr id="69" name="Shape 65"/>
          <p:cNvSpPr/>
          <p:nvPr/>
        </p:nvSpPr>
        <p:spPr>
          <a:xfrm>
            <a:off x="10789920" y="42931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10789920" y="42931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8229600" y="45857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anónimo SMB — enumera recursos</a:t>
            </a:r>
            <a:endParaRPr lang="en-US" sz="1030" dirty="0"/>
          </a:p>
        </p:txBody>
      </p:sp>
      <p:sp>
        <p:nvSpPr>
          <p:cNvPr id="72" name="Text 68"/>
          <p:cNvSpPr txBox="1"/>
          <p:nvPr/>
        </p:nvSpPr>
        <p:spPr>
          <a:xfrm>
            <a:off x="8229600" y="498348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RK-06</a:t>
            </a:r>
            <a:endParaRPr lang="en-US" sz="1050" dirty="0"/>
          </a:p>
        </p:txBody>
      </p:sp>
      <p:sp>
        <p:nvSpPr>
          <p:cNvPr id="73" name="Shape 69"/>
          <p:cNvSpPr/>
          <p:nvPr/>
        </p:nvSpPr>
        <p:spPr>
          <a:xfrm>
            <a:off x="10789920" y="50017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10789920" y="50017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75" name="Text 71"/>
          <p:cNvSpPr txBox="1"/>
          <p:nvPr/>
        </p:nvSpPr>
        <p:spPr>
          <a:xfrm>
            <a:off x="8229600" y="52943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accesible</a:t>
            </a:r>
            <a:endParaRPr lang="en-US" sz="1030" dirty="0"/>
          </a:p>
        </p:txBody>
      </p:sp>
      <p:sp>
        <p:nvSpPr>
          <p:cNvPr id="76" name="Text 72"/>
          <p:cNvSpPr txBox="1"/>
          <p:nvPr/>
        </p:nvSpPr>
        <p:spPr>
          <a:xfrm>
            <a:off x="8229600" y="5692140"/>
            <a:ext cx="868680" cy="29260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RK-03</a:t>
            </a:r>
            <a:endParaRPr lang="en-US" sz="1050" dirty="0"/>
          </a:p>
        </p:txBody>
      </p:sp>
      <p:sp>
        <p:nvSpPr>
          <p:cNvPr id="77" name="Shape 73"/>
          <p:cNvSpPr/>
          <p:nvPr/>
        </p:nvSpPr>
        <p:spPr>
          <a:xfrm>
            <a:off x="10789920" y="57104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8" name="Text 74"/>
          <p:cNvSpPr txBox="1"/>
          <p:nvPr/>
        </p:nvSpPr>
        <p:spPr>
          <a:xfrm>
            <a:off x="10789920" y="57104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79" name="Text 75"/>
          <p:cNvSpPr txBox="1"/>
          <p:nvPr/>
        </p:nvSpPr>
        <p:spPr>
          <a:xfrm>
            <a:off x="8229600" y="60030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SMB1 (NT1) habilitado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vulnerabilidades · DMZ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contenedores concentran la mayor superficie de ataque, con tres cadenas de RCE independientes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074920" cy="5120640"/>
          </a:xfrm>
          <a:prstGeom prst="roundRect">
            <a:avLst>
              <a:gd name="adj" fmla="val 1622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16152" y="15361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 web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572768"/>
            <a:ext cx="822960" cy="36576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148840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WB-01</a:t>
            </a:r>
            <a:endParaRPr lang="en-US" sz="98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1488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en login — bypass de autenticación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864608" y="222199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64608" y="22219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2683764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WB-03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26837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→ webshell → RCE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864608" y="27569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64608" y="27569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218688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WB-11</a:t>
            </a:r>
            <a:endParaRPr lang="en-US" sz="98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3218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root — acceso total a la BD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4864608" y="329184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64608" y="32918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753612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WB-15</a:t>
            </a:r>
            <a:endParaRPr lang="en-US" sz="98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37536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malicioso WordPress → RCE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4864608" y="382676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864608" y="38267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4288536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WB-06</a:t>
            </a:r>
            <a:endParaRPr lang="en-US" sz="98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42885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Volcado completo de MariaDB vía RCE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4864608" y="43616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864608" y="43616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" y="4823460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WB-09</a:t>
            </a:r>
            <a:endParaRPr lang="en-US" sz="980" dirty="0"/>
          </a:p>
        </p:txBody>
      </p:sp>
      <p:sp>
        <p:nvSpPr>
          <p:cNvPr id="32" name="Text 29"/>
          <p:cNvSpPr txBox="1"/>
          <p:nvPr/>
        </p:nvSpPr>
        <p:spPr>
          <a:xfrm>
            <a:off x="1600200" y="48234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5.2.1 expuesto sin filtro IP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4864608" y="489661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864608" y="48966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5358384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WB-07</a:t>
            </a:r>
            <a:endParaRPr lang="en-US" sz="980" dirty="0"/>
          </a:p>
        </p:txBody>
      </p:sp>
      <p:sp>
        <p:nvSpPr>
          <p:cNvPr id="36" name="Text 33"/>
          <p:cNvSpPr txBox="1"/>
          <p:nvPr/>
        </p:nvSpPr>
        <p:spPr>
          <a:xfrm>
            <a:off x="1600200" y="53583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débil — SSLv2 habilitado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4864608" y="543153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864608" y="54315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31520" y="5893308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WB-16</a:t>
            </a:r>
            <a:endParaRPr lang="en-US" sz="980" dirty="0"/>
          </a:p>
        </p:txBody>
      </p:sp>
      <p:sp>
        <p:nvSpPr>
          <p:cNvPr id="40" name="Text 37"/>
          <p:cNvSpPr txBox="1"/>
          <p:nvPr/>
        </p:nvSpPr>
        <p:spPr>
          <a:xfrm>
            <a:off x="1600200" y="58933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Honeytoken /.env accesible sin auth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4864608" y="596646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864608" y="59664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742432" y="1371600"/>
            <a:ext cx="2880360" cy="5120640"/>
          </a:xfrm>
          <a:prstGeom prst="roundRect">
            <a:avLst>
              <a:gd name="adj" fmla="val 285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572768"/>
            <a:ext cx="365760" cy="365760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6455664" y="15361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ftpsmtp</a:t>
            </a:r>
            <a:endParaRPr lang="en-US" sz="1600" dirty="0"/>
          </a:p>
        </p:txBody>
      </p:sp>
      <p:sp>
        <p:nvSpPr>
          <p:cNvPr id="46" name="Text 42"/>
          <p:cNvSpPr txBox="1"/>
          <p:nvPr/>
        </p:nvSpPr>
        <p:spPr>
          <a:xfrm>
            <a:off x="7571232" y="1572768"/>
            <a:ext cx="822960" cy="36576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5971032" y="2148840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FT-01</a:t>
            </a:r>
            <a:endParaRPr lang="en-US" sz="980" dirty="0"/>
          </a:p>
        </p:txBody>
      </p:sp>
      <p:sp>
        <p:nvSpPr>
          <p:cNvPr id="48" name="Text 44"/>
          <p:cNvSpPr txBox="1"/>
          <p:nvPr/>
        </p:nvSpPr>
        <p:spPr>
          <a:xfrm>
            <a:off x="6839712" y="2148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con escritura en /uploads/</a:t>
            </a:r>
            <a:endParaRPr lang="en-US" sz="980" dirty="0"/>
          </a:p>
        </p:txBody>
      </p:sp>
      <p:sp>
        <p:nvSpPr>
          <p:cNvPr id="49" name="Shape 45"/>
          <p:cNvSpPr/>
          <p:nvPr/>
        </p:nvSpPr>
        <p:spPr>
          <a:xfrm>
            <a:off x="7909560" y="222199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7909560" y="22219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5971032" y="2683764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FT-02</a:t>
            </a:r>
            <a:endParaRPr lang="en-US" sz="980" dirty="0"/>
          </a:p>
        </p:txBody>
      </p:sp>
      <p:sp>
        <p:nvSpPr>
          <p:cNvPr id="52" name="Text 48"/>
          <p:cNvSpPr txBox="1"/>
          <p:nvPr/>
        </p:nvSpPr>
        <p:spPr>
          <a:xfrm>
            <a:off x="6839712" y="26837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open relay — spoofing corporativo</a:t>
            </a:r>
            <a:endParaRPr lang="en-US" sz="980" dirty="0"/>
          </a:p>
        </p:txBody>
      </p:sp>
      <p:sp>
        <p:nvSpPr>
          <p:cNvPr id="53" name="Shape 49"/>
          <p:cNvSpPr/>
          <p:nvPr/>
        </p:nvSpPr>
        <p:spPr>
          <a:xfrm>
            <a:off x="7909560" y="27569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909560" y="27569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5971032" y="3218688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FT-04</a:t>
            </a:r>
            <a:endParaRPr lang="en-US" sz="980" dirty="0"/>
          </a:p>
        </p:txBody>
      </p:sp>
      <p:sp>
        <p:nvSpPr>
          <p:cNvPr id="56" name="Text 52"/>
          <p:cNvSpPr txBox="1"/>
          <p:nvPr/>
        </p:nvSpPr>
        <p:spPr>
          <a:xfrm>
            <a:off x="6839712" y="3218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débil svc_ftp/Ftp#Nexora2024</a:t>
            </a:r>
            <a:endParaRPr lang="en-US" sz="980" dirty="0"/>
          </a:p>
        </p:txBody>
      </p:sp>
      <p:sp>
        <p:nvSpPr>
          <p:cNvPr id="57" name="Shape 53"/>
          <p:cNvSpPr/>
          <p:nvPr/>
        </p:nvSpPr>
        <p:spPr>
          <a:xfrm>
            <a:off x="7909560" y="329184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7909560" y="32918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5971032" y="3753612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FT-07</a:t>
            </a:r>
            <a:endParaRPr lang="en-US" sz="980" dirty="0"/>
          </a:p>
        </p:txBody>
      </p:sp>
      <p:sp>
        <p:nvSpPr>
          <p:cNvPr id="60" name="Text 56"/>
          <p:cNvSpPr txBox="1"/>
          <p:nvPr/>
        </p:nvSpPr>
        <p:spPr>
          <a:xfrm>
            <a:off x="6839712" y="37536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credenciales LDAP→FTP</a:t>
            </a:r>
            <a:endParaRPr lang="en-US" sz="980" dirty="0"/>
          </a:p>
        </p:txBody>
      </p:sp>
      <p:sp>
        <p:nvSpPr>
          <p:cNvPr id="61" name="Shape 57"/>
          <p:cNvSpPr/>
          <p:nvPr/>
        </p:nvSpPr>
        <p:spPr>
          <a:xfrm>
            <a:off x="7909560" y="382676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7909560" y="38267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5971032" y="4288536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FT-03</a:t>
            </a:r>
            <a:endParaRPr lang="en-US" sz="980" dirty="0"/>
          </a:p>
        </p:txBody>
      </p:sp>
      <p:sp>
        <p:nvSpPr>
          <p:cNvPr id="64" name="Text 60"/>
          <p:cNvSpPr txBox="1"/>
          <p:nvPr/>
        </p:nvSpPr>
        <p:spPr>
          <a:xfrm>
            <a:off x="6839712" y="42885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VRFY habilitado — enumera usuarios</a:t>
            </a:r>
            <a:endParaRPr lang="en-US" sz="980" dirty="0"/>
          </a:p>
        </p:txBody>
      </p:sp>
      <p:sp>
        <p:nvSpPr>
          <p:cNvPr id="65" name="Shape 61"/>
          <p:cNvSpPr/>
          <p:nvPr/>
        </p:nvSpPr>
        <p:spPr>
          <a:xfrm>
            <a:off x="7909560" y="43616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7909560" y="43616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8796528" y="1371600"/>
            <a:ext cx="2907792" cy="5120640"/>
          </a:xfrm>
          <a:prstGeom prst="roundRect">
            <a:avLst>
              <a:gd name="adj" fmla="val 2830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1572768"/>
            <a:ext cx="365760" cy="365760"/>
          </a:xfrm>
          <a:prstGeom prst="rect">
            <a:avLst/>
          </a:prstGeom>
        </p:spPr>
      </p:pic>
      <p:sp>
        <p:nvSpPr>
          <p:cNvPr id="69" name="Text 64"/>
          <p:cNvSpPr txBox="1"/>
          <p:nvPr/>
        </p:nvSpPr>
        <p:spPr>
          <a:xfrm>
            <a:off x="9509760" y="153619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Directorio</a:t>
            </a:r>
            <a:endParaRPr lang="en-US" sz="1600" dirty="0"/>
          </a:p>
        </p:txBody>
      </p:sp>
      <p:sp>
        <p:nvSpPr>
          <p:cNvPr id="70" name="Text 65"/>
          <p:cNvSpPr txBox="1"/>
          <p:nvPr/>
        </p:nvSpPr>
        <p:spPr>
          <a:xfrm>
            <a:off x="10652760" y="1572768"/>
            <a:ext cx="822960" cy="36576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Text 66"/>
          <p:cNvSpPr txBox="1"/>
          <p:nvPr/>
        </p:nvSpPr>
        <p:spPr>
          <a:xfrm>
            <a:off x="9025128" y="2148840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DR-02</a:t>
            </a:r>
            <a:endParaRPr lang="en-US" sz="980" dirty="0"/>
          </a:p>
        </p:txBody>
      </p:sp>
      <p:sp>
        <p:nvSpPr>
          <p:cNvPr id="72" name="Text 67"/>
          <p:cNvSpPr txBox="1"/>
          <p:nvPr/>
        </p:nvSpPr>
        <p:spPr>
          <a:xfrm>
            <a:off x="9893808" y="21488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en claro en userPassword</a:t>
            </a:r>
            <a:endParaRPr lang="en-US" sz="980" dirty="0"/>
          </a:p>
        </p:txBody>
      </p:sp>
      <p:sp>
        <p:nvSpPr>
          <p:cNvPr id="73" name="Shape 68"/>
          <p:cNvSpPr/>
          <p:nvPr/>
        </p:nvSpPr>
        <p:spPr>
          <a:xfrm>
            <a:off x="10991088" y="222199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74" name="Text 69"/>
          <p:cNvSpPr txBox="1"/>
          <p:nvPr/>
        </p:nvSpPr>
        <p:spPr>
          <a:xfrm>
            <a:off x="10991088" y="22219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9025128" y="2683764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DR-07</a:t>
            </a:r>
            <a:endParaRPr lang="en-US" sz="980" dirty="0"/>
          </a:p>
        </p:txBody>
      </p:sp>
      <p:sp>
        <p:nvSpPr>
          <p:cNvPr id="76" name="Text 71"/>
          <p:cNvSpPr txBox="1"/>
          <p:nvPr/>
        </p:nvSpPr>
        <p:spPr>
          <a:xfrm>
            <a:off x="9893808" y="268376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Honeytoken svc_network con Cisco123!</a:t>
            </a:r>
            <a:endParaRPr lang="en-US" sz="980" dirty="0"/>
          </a:p>
        </p:txBody>
      </p:sp>
      <p:sp>
        <p:nvSpPr>
          <p:cNvPr id="77" name="Shape 72"/>
          <p:cNvSpPr/>
          <p:nvPr/>
        </p:nvSpPr>
        <p:spPr>
          <a:xfrm>
            <a:off x="10991088" y="27569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78" name="Text 73"/>
          <p:cNvSpPr txBox="1"/>
          <p:nvPr/>
        </p:nvSpPr>
        <p:spPr>
          <a:xfrm>
            <a:off x="10991088" y="27569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9025128" y="3218688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DR-01</a:t>
            </a:r>
            <a:endParaRPr lang="en-US" sz="980" dirty="0"/>
          </a:p>
        </p:txBody>
      </p:sp>
      <p:sp>
        <p:nvSpPr>
          <p:cNvPr id="80" name="Text 75"/>
          <p:cNvSpPr txBox="1"/>
          <p:nvPr/>
        </p:nvSpPr>
        <p:spPr>
          <a:xfrm>
            <a:off x="9893808" y="321868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bind anónimo sin credenciales</a:t>
            </a:r>
            <a:endParaRPr lang="en-US" sz="980" dirty="0"/>
          </a:p>
        </p:txBody>
      </p:sp>
      <p:sp>
        <p:nvSpPr>
          <p:cNvPr id="81" name="Shape 76"/>
          <p:cNvSpPr/>
          <p:nvPr/>
        </p:nvSpPr>
        <p:spPr>
          <a:xfrm>
            <a:off x="10991088" y="329184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82" name="Text 77"/>
          <p:cNvSpPr txBox="1"/>
          <p:nvPr/>
        </p:nvSpPr>
        <p:spPr>
          <a:xfrm>
            <a:off x="10991088" y="32918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83" name="Text 78"/>
          <p:cNvSpPr txBox="1"/>
          <p:nvPr/>
        </p:nvSpPr>
        <p:spPr>
          <a:xfrm>
            <a:off x="9025128" y="3753612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DR-05</a:t>
            </a:r>
            <a:endParaRPr lang="en-US" sz="980" dirty="0"/>
          </a:p>
        </p:txBody>
      </p:sp>
      <p:sp>
        <p:nvSpPr>
          <p:cNvPr id="84" name="Text 79"/>
          <p:cNvSpPr txBox="1"/>
          <p:nvPr/>
        </p:nvSpPr>
        <p:spPr>
          <a:xfrm>
            <a:off x="9893808" y="375361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Honeytoken LDAP — admin_backup</a:t>
            </a:r>
            <a:endParaRPr lang="en-US" sz="980" dirty="0"/>
          </a:p>
        </p:txBody>
      </p:sp>
      <p:sp>
        <p:nvSpPr>
          <p:cNvPr id="85" name="Shape 80"/>
          <p:cNvSpPr/>
          <p:nvPr/>
        </p:nvSpPr>
        <p:spPr>
          <a:xfrm>
            <a:off x="10991088" y="382676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86" name="Text 81"/>
          <p:cNvSpPr txBox="1"/>
          <p:nvPr/>
        </p:nvSpPr>
        <p:spPr>
          <a:xfrm>
            <a:off x="10991088" y="382676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87" name="Text 82"/>
          <p:cNvSpPr txBox="1"/>
          <p:nvPr/>
        </p:nvSpPr>
        <p:spPr>
          <a:xfrm>
            <a:off x="9025128" y="4288536"/>
            <a:ext cx="822960" cy="384048"/>
          </a:xfrm>
          <a:prstGeom prst="rect">
            <a:avLst/>
          </a:prstGeom>
          <a:solidFill>
            <a:srgbClr val="1D31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DR-04</a:t>
            </a:r>
            <a:endParaRPr lang="en-US" sz="980" dirty="0"/>
          </a:p>
        </p:txBody>
      </p:sp>
      <p:sp>
        <p:nvSpPr>
          <p:cNvPr id="88" name="Text 83"/>
          <p:cNvSpPr txBox="1"/>
          <p:nvPr/>
        </p:nvSpPr>
        <p:spPr>
          <a:xfrm>
            <a:off x="9893808" y="42885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community string «public»</a:t>
            </a:r>
            <a:endParaRPr lang="en-US" sz="980" dirty="0"/>
          </a:p>
        </p:txBody>
      </p:sp>
      <p:sp>
        <p:nvSpPr>
          <p:cNvPr id="89" name="Shape 84"/>
          <p:cNvSpPr/>
          <p:nvPr/>
        </p:nvSpPr>
        <p:spPr>
          <a:xfrm>
            <a:off x="10991088" y="43616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0" name="Text 85"/>
          <p:cNvSpPr txBox="1"/>
          <p:nvPr/>
        </p:nvSpPr>
        <p:spPr>
          <a:xfrm>
            <a:off x="10991088" y="43616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y protocolos de red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protocolos repartidos entre las máquinas de servicio, en parte endurecidos y en parte débiles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581912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158191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DHCP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563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DHCP Kea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892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130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691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Endurecido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418588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2583180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258318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25648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BIND9 · nexora.lab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28940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6929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26929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41985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" y="3584448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358444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38953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69417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130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6941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Endurecido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42112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" y="4585716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" y="45857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SMB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5674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286000" y="48966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469544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46954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422392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7512" y="5586984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" y="5586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HTTP/HTTPS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5568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Nginx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5897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56967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0" y="56967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14173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82512" y="1581912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82512" y="158191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001000" y="1563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001000" y="1892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287000" y="16916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287000" y="1691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2418588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82512" y="2583180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82512" y="258318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FTP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8001000" y="25648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8001000" y="28940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Stream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287000" y="26929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287000" y="26929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217920" y="341985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82512" y="3584448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82512" y="358444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SMTP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800100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8001000" y="38953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Stream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287000" y="369417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287000" y="36941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17920" y="442112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82512" y="4585716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82512" y="45857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LDAP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8001000" y="45674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OpenLDAP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8001000" y="48966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0287000" y="469544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287000" y="46954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217920" y="5422392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382512" y="5586984"/>
            <a:ext cx="1417320" cy="603504"/>
          </a:xfrm>
          <a:prstGeom prst="roundRect">
            <a:avLst>
              <a:gd name="adj" fmla="val 1060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382512" y="55869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SNMP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8001000" y="5568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snmpd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8001000" y="5897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287000" y="56967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3A162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287000" y="56967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auditoría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fases alineadas con MITRE ATT&amp;CK, cerradas con un ciclo defensivo de verificación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581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Reconocimiento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puertos y versiones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9272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0215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142232" y="1581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Enumeración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SMB, LDAP, SNMP y web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35624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18504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1850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1581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· CWE · OWASP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51976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34856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3485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774936" y="15819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Explotación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SQLi, RCE, LDAP, SNMP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299008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31729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Post-explotación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813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Volcado de credenciales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19272" y="299008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02152" y="31729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0215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4142232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lateral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3502152" y="3813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 DMZ → interna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35624" y="299008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18504" y="31729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18504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6958584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(Blue)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6318504" y="3813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 el SIEM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51976" y="299008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34856" y="31729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134856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9774936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9134856" y="3813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remediación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892040"/>
            <a:ext cx="11201400" cy="1508760"/>
          </a:xfrm>
          <a:prstGeom prst="roundRect">
            <a:avLst>
              <a:gd name="adj" fmla="val 5455"/>
            </a:avLst>
          </a:prstGeom>
          <a:solidFill>
            <a:srgbClr val="1D3151"/>
          </a:solidFill>
          <a:ln w="15875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777240" y="5029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ATACAR → DETECTAR → ENDURECER → VERIFICAR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777240" y="5440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Atacar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77240" y="5779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la técnica ofensiva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3200400" y="5440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3538728" y="5440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3538728" y="5779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correspondiente en Wazuh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961888" y="5440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6300216" y="5440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Endurecer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6300216" y="5779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la contramedida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723376" y="5440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8" name="Text 56"/>
          <p:cNvSpPr txBox="1"/>
          <p:nvPr/>
        </p:nvSpPr>
        <p:spPr>
          <a:xfrm>
            <a:off x="9061704" y="5440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9061704" y="5779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el ataque para confirmar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Arsenal de pentesting por servicio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adecuada para cada protocolo, priorizando el impacto de cada prueba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93776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de la prueba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 (AXFR) · dnsrecon · dnsenum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Transferencia de zona y enumeración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 · Nmap (ssh-*)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bruta y enumeración de config.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enum4linux-ng · smbclient · NetExec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Enumeración y acceso a comparticiones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Nikto · Gobuster · sqlmap · testssl.sh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Rutas, inyección SQL y TLS débil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(mysql-*) · cliente mysql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BD y volcado de credenciales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(ftp-anon) · cliente ftp · Hydra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anónimo y subida de webshell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smtp-user-enum · swaks · netcat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Enumeración de usuarios y open relay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ldapsearch · Nmap (ldap-*)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anónimo y extracción de directorio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E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AF1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snmpwalk · onesixtyone · snmp-check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B2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por defecto y divulgación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transversales y cadena de ataque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vulnerabilidad de menor severidad fue el punto de partida que comprometió todo el entorno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TRANSVERSALES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4800600" cy="1024128"/>
          </a:xfrm>
          <a:prstGeom prst="roundRect">
            <a:avLst>
              <a:gd name="adj" fmla="val 71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02082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5798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331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de hosts y puertos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953512"/>
            <a:ext cx="4800600" cy="1024128"/>
          </a:xfrm>
          <a:prstGeom prst="roundRect">
            <a:avLst>
              <a:gd name="adj" fmla="val 71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" y="319125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32841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6304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BloodHound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35021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de rutas de ataque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4123944"/>
            <a:ext cx="4800600" cy="1024128"/>
          </a:xfrm>
          <a:prstGeom prst="roundRect">
            <a:avLst>
              <a:gd name="adj" fmla="val 71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3232" y="43616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4988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63040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Metasploit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46725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explotación general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2920" y="5294376"/>
            <a:ext cx="4800600" cy="1024128"/>
          </a:xfrm>
          <a:prstGeom prst="roundRect">
            <a:avLst>
              <a:gd name="adj" fmla="val 714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13232" y="55321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66928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63040" y="5477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 (SIEM)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463040" y="58430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— perspectiva defensiva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577840" y="1371600"/>
            <a:ext cx="6126480" cy="5120640"/>
          </a:xfrm>
          <a:prstGeom prst="roundRect">
            <a:avLst>
              <a:gd name="adj" fmla="val 1607"/>
            </a:avLst>
          </a:prstGeom>
          <a:solidFill>
            <a:srgbClr val="16263F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57276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291072" y="15361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Cadena de ataque más significativa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5852160" y="214884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852160" y="2148840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38BDF8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6053328" y="2148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34" name="Text 27"/>
          <p:cNvSpPr txBox="1"/>
          <p:nvPr/>
        </p:nvSpPr>
        <p:spPr>
          <a:xfrm>
            <a:off x="6629400" y="22677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LDAP bind anónimo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6629400" y="257860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dir · sin credenciales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10771632" y="22037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10771632" y="22037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144768" y="28986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852160" y="3182112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852160" y="3182112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F43F5E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6053328" y="318211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2" name="Text 35"/>
          <p:cNvSpPr txBox="1"/>
          <p:nvPr/>
        </p:nvSpPr>
        <p:spPr>
          <a:xfrm>
            <a:off x="6629400" y="33009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Contraseñas en texto claro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6629400" y="3611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userPassword expuesto en el LDAP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10771632" y="32369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10771632" y="32369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6144768" y="39319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5852160" y="4215384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5852160" y="4215384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FB923C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6053328" y="421538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50" name="Text 43"/>
          <p:cNvSpPr txBox="1"/>
          <p:nvPr/>
        </p:nvSpPr>
        <p:spPr>
          <a:xfrm>
            <a:off x="6629400" y="43342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lateral SMB</a:t>
            </a:r>
            <a:endParaRPr lang="en-US" sz="1450" dirty="0"/>
          </a:p>
        </p:txBody>
      </p:sp>
      <p:sp>
        <p:nvSpPr>
          <p:cNvPr id="51" name="Text 44"/>
          <p:cNvSpPr txBox="1"/>
          <p:nvPr/>
        </p:nvSpPr>
        <p:spPr>
          <a:xfrm>
            <a:off x="6629400" y="46451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credenciales válidas en Rocky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10771632" y="42702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10771632" y="4270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6144768" y="49651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5852160" y="5248656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5852160" y="5248656"/>
            <a:ext cx="109728" cy="777240"/>
          </a:xfrm>
          <a:prstGeom prst="roundRect">
            <a:avLst>
              <a:gd name="adj" fmla="val 41667"/>
            </a:avLst>
          </a:prstGeom>
          <a:solidFill>
            <a:srgbClr val="F43F5E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6053328" y="524865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58" name="Text 51"/>
          <p:cNvSpPr txBox="1"/>
          <p:nvPr/>
        </p:nvSpPr>
        <p:spPr>
          <a:xfrm>
            <a:off x="6629400" y="53675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Fichero de credenciales</a:t>
            </a:r>
            <a:endParaRPr lang="en-US" sz="1450" dirty="0"/>
          </a:p>
        </p:txBody>
      </p:sp>
      <p:sp>
        <p:nvSpPr>
          <p:cNvPr id="59" name="Text 52"/>
          <p:cNvSpPr txBox="1"/>
          <p:nvPr/>
        </p:nvSpPr>
        <p:spPr>
          <a:xfrm>
            <a:off x="6629400" y="56784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credenciales_servicios.txt: toda la infra</a:t>
            </a:r>
            <a:endParaRPr lang="en-US" sz="1050" dirty="0"/>
          </a:p>
        </p:txBody>
      </p:sp>
      <p:sp>
        <p:nvSpPr>
          <p:cNvPr id="60" name="Shape 53"/>
          <p:cNvSpPr/>
          <p:nvPr/>
        </p:nvSpPr>
        <p:spPr>
          <a:xfrm>
            <a:off x="10771632" y="5303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61" name="Text 54"/>
          <p:cNvSpPr txBox="1"/>
          <p:nvPr/>
        </p:nvSpPr>
        <p:spPr>
          <a:xfrm>
            <a:off x="10771632" y="53035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· Reconocimiento y DNS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zona AXFR sin restricción: el mapa completo de la red interna sin autenticación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78586"/>
            <a:ext cx="6903720" cy="3495188"/>
          </a:xfrm>
          <a:prstGeom prst="roundRect">
            <a:avLst>
              <a:gd name="adj" fmla="val 1570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ev_d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088314"/>
            <a:ext cx="6684264" cy="32757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61 · dig @10.10.99.1 nexora.lab AXFR — transferencia de zona exitosa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VECTOR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para descubrir el puerto 53 y dig para la transferencia de zona (AXFR).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BIND9 permite AXFR a cualquier host y divulga su versión en el banner version.bind.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obtiene todo el mapa DNS interno (web, rocky, siem, mail…) sin credenciales.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UB-04 · allow-transfer none   —   MITRE T1590 (Reconocimiento)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· Intranet web (SQLi)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SQL en el formulario de acceso: volcado de la tabla de usuarios en texto claro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3186"/>
            <a:ext cx="6903720" cy="3825988"/>
          </a:xfrm>
          <a:prstGeom prst="roundRect">
            <a:avLst>
              <a:gd name="adj" fmla="val 1434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ev_sql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922914"/>
            <a:ext cx="6684264" cy="36065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84 · sqlmap volcando nexora.usuarios desde el login de la intranet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VECTOR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sobre el parámetro de login; bypass manual con admin'#.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accesible y consultas sin parametrizar permiten leer toda la tabla usuarios.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 claro de admin, jroca, mvidal y lpena, y acceso al panel de administración.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WB-01 · consultas preparadas   —   MITRE T1190 (Public-Facing App)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· Cadena FTP → webshell → RCE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FTP anónimo escribe en el mismo volumen que el webroot: ejecución remota de código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87813"/>
            <a:ext cx="6903720" cy="3276735"/>
          </a:xfrm>
          <a:prstGeom prst="roundRect">
            <a:avLst>
              <a:gd name="adj" fmla="val 1674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ev_webs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97541"/>
            <a:ext cx="6684264" cy="305727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87 · curl sobre shell.php ejecutando comandos como apache (uid=48)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VECTOR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para subir shell.php y curl para invocar la webshell.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directorio /uploads se comparte entre FTP y web, permitiendo servir el PHP subido.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como apache: lectura de db.php y /etc/passwd, y volcado completo de MariaDB.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WB-03 · validar subidas + uploads fuera del webroot   —   T1505.003 (Web Shell)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· Directorio LDAP y SNMP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anónimo: userPassword en texto claro; SNMP con community «public» divulga el sistema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0874" y="1371600"/>
            <a:ext cx="6367811" cy="4709160"/>
          </a:xfrm>
          <a:prstGeom prst="roundRect">
            <a:avLst>
              <a:gd name="adj" fmla="val 116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ev_ld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602" y="1481328"/>
            <a:ext cx="6148355" cy="44897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81 · ldapsearch (bind anónimo) volcando dc=nexora,dc=lab con contraseñas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VECTOR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ldapsearch / Nmap ldap-search y snmpwalk con la community public.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bind anónimo expone todo el árbol del directorio, incluidas las contraseñas.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en claro (Verano2024!, Rrhh2024*) reutilizadas después en SMB.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DR-01/DR-02 · LDAPS + ocultar userPassword   —   MITRE T1087 (Account Discovery)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· Fuerza bruta y escalada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descubre svc_monitor/monitor123 en SSH; sudo NOPASSWD escala a root en el firewall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40131"/>
            <a:ext cx="11201400" cy="2331817"/>
          </a:xfrm>
          <a:prstGeom prst="roundRect">
            <a:avLst>
              <a:gd name="adj" fmla="val 2353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ev_hyd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49859"/>
            <a:ext cx="10981944" cy="21123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3877056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101 · Hydra encontrando la credencial válida svc_monitor/monitor123 por SSH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4206240"/>
            <a:ext cx="5532120" cy="96012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4206240"/>
            <a:ext cx="109728" cy="960120"/>
          </a:xfrm>
          <a:prstGeom prst="roundRect">
            <a:avLst>
              <a:gd name="adj" fmla="val 41667"/>
            </a:avLst>
          </a:prstGeom>
          <a:solidFill>
            <a:srgbClr val="F43F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8952" y="43159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4626864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para la fuerza bruta SSH contra el firewall y sudo para la escalada.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4206240"/>
            <a:ext cx="5532120" cy="96012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4206240"/>
            <a:ext cx="109728" cy="960120"/>
          </a:xfrm>
          <a:prstGeom prst="roundRect">
            <a:avLst>
              <a:gd name="adj" fmla="val 41667"/>
            </a:avLst>
          </a:prstGeom>
          <a:solidFill>
            <a:srgbClr val="FB92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28232" y="43159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428232" y="4626864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débil svc_monitor/monitor123 y sudo NOPASSWD:ALL en el mismo usuario.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5294376"/>
            <a:ext cx="5532120" cy="96012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5294376"/>
            <a:ext cx="109728" cy="960120"/>
          </a:xfrm>
          <a:prstGeom prst="roundRect">
            <a:avLst>
              <a:gd name="adj" fmla="val 41667"/>
            </a:avLst>
          </a:prstGeom>
          <a:solidFill>
            <a:srgbClr val="F43F5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58952" y="540410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58952" y="571500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firewall perimetral y control total de las reglas nftables entre zonas.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72200" y="5294376"/>
            <a:ext cx="5532120" cy="96012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72200" y="5294376"/>
            <a:ext cx="109728" cy="960120"/>
          </a:xfrm>
          <a:prstGeom prst="roundRect">
            <a:avLst>
              <a:gd name="adj" fmla="val 41667"/>
            </a:avLst>
          </a:prstGeom>
          <a:solidFill>
            <a:srgbClr val="34D39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28232" y="540410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571500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UB-02/UB-03 · SSH solo por clave + 2FA TOTP y eliminar el sudo sin contraseña.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· Ubuntu Server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más crítico: su compromiso implica el de toda la infraestructura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749040" cy="38404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32688" y="1298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10.10.x.1 · Firewall perimetral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UB-M01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svc_monitor + sudo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el vector de acceso inicial más crítico; el ataque de fuerza bruta SSH pierde su objetivo.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3679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3679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UB-M02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solo con clave pública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autenticación por contraseña, conocer usuario y clave ya no basta para entrar.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50292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751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UB-M04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60020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Restringir AXFR — allow-transfer none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la divulgación del mapa de red interno vía transferencia de zona DNS.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617220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3679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3679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UB-M07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reglas de movimiento lateral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atacante no debe alcanzar la red interna bajo ninguna circunstancia.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50292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751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UB-M09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60020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nftables cifrada (GPG)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 extraiga el fichero de reglas, no puede analizarse para hallar huecos.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617220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3679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UB-M10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2FA TOTP obligatorio en SSH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35508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factor independiente; sin el código TOTP la clave SSH robada es inútil.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80760"/>
            <a:ext cx="256032" cy="25603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024128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UB-01 · UB-02 · UB-03 · UB-04 · UB-06 · AL-01  —  verificado desde Kali y monitorizado por Wazuh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· Rocky Linux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ficheros: acceso anónimo, reutilización de credenciales y ficheros sensibles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32688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10.10.20.10 · Servidor de ficheros SMB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RK-M01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SMB1 deshabilitado — mínimo SMB2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obsoleto y vulnerable a NTLM relay y EternalBlue; SMB2/3 cifran el tráfico.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3679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3679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RK-M02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acceso anónimo SMB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se puede enumerar el inventario de ficheros sin autenticarse.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50292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751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RK-M03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60020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Retirar credenciales_servicios.txt e id_rsa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 almacenar credenciales o claves privadas en recursos compartidos.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617220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3679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3679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RK-M04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Contraseñas SMB sin reutilización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 del LDAP: comprometer un servicio no compromete el resto.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50292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751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RK-M08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60020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Cifrado SMB3 obligatorio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las transferencias de ficheros frente a captura de red (sniffing).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617220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3679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RK-M09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departamentales + full_audit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35508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users por grupo y auditoría del recurso dirección hacia el SIEM.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80760"/>
            <a:ext cx="256032" cy="25603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024128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RK-01 · RK-02 · RK-03 · RK-04 · RK-05 · RK-06  —  accesos SMB auditados por Wazuh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· Docker (host + web)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niveles: el host Alpine protege a todos los contenedores y el contenedor web se endurece aparte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32688" y="12984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10.10.30.x · Host Alpine + contenedor web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Segmentar la red entre contenedores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redes separadas, comprometer el web no da acceso automático a LDAP ni FTP.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3679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3679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exponer el socket Docker + no-root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socket da control total del host; los contenedores dejan de correr como root.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50292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751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60020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preparadas contra la SQLi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de forma definitiva el bypass de autenticación con admin'#.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617220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3679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3679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extensión y MIME en subidas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cargar shell.php; uploads se mueve fuera del webroot con PHP deshabilitado.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50292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751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WB-09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60020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phpMyAdmin y WordPress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Superficies innecesarias que dieron acceso root a la BD y takeover del CMS.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617220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3679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WB-07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correcto y cookies seguras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35508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desactiva SSLv2 y se marca HttpOnly; se rotan las credenciales expuestas de la BD.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80760"/>
            <a:ext cx="256032" cy="25603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024128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la familia WB (SQLi, RCE, phpMyAdmin, WordPress, TLS) y AL-01/AL-02 de segmentación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· ftpsmtp y dir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de correo/ficheros y de directorio: cifrado, confinamiento y auditoría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32688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10.10.30.12 ftpsmtp · 10.10.30.13 dir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Deshabilitar VRFY y FTPS en vez de FTP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 la enumeración de usuarios y se cifra el canal de control y datos.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36792" y="20391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36792" y="2039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Jaula chroot + restringir FTP por IP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386584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 a svc_ftp en su home; el FTP solo accesible desde la red interna/DMZ.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50292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751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FT-05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60020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 honeytokens y logging completo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 falsas en /backup y con trazas visibles para el SIEM.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6172200" y="3096768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36792" y="32613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36792" y="3261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3233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Ocultar userPassword (by * none)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3608832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un usuario autenticado puede leer las contraseñas de los demás.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50292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751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DR-04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60020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SNMPv3 y restringir SNMP por IP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v1/v2c envían la community en claro; v3 añade autenticación y cifrado.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6172200" y="4319016"/>
            <a:ext cx="5532120" cy="1075944"/>
          </a:xfrm>
          <a:prstGeom prst="roundRect">
            <a:avLst>
              <a:gd name="adj" fmla="val 5949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36792" y="44836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4483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DR-01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44561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consultas LDAP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355080" y="4831080"/>
            <a:ext cx="516636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detecta los dumps masivos del directorio y genera alertas de enumeración.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1D3151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80760"/>
            <a:ext cx="256032" cy="25603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024128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 la familia FT (open relay, FTP anónimo, honeytokens) y DR (LDAP/SNMP) del directorio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Wazuh · visión general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4.14.7 all-in-one sobre RHEL 9: agrega, correlaciona y clasifica los eventos de todos los nodos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57294"/>
            <a:ext cx="6903720" cy="3537772"/>
          </a:xfrm>
          <a:prstGeom prst="roundRect">
            <a:avLst>
              <a:gd name="adj" fmla="val 1551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siem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067022"/>
            <a:ext cx="6684264" cy="33183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49 · Panel principal de Wazuh (gestor + indexador + dashboard en RHEL 9)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EN EL PROYECTO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y correlaciona la actividad de firewall Ubuntu, Rocky y host Docker Alpine.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qué técnicas del pentest dejan rastro y cuáles pasan desapercibidas.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volumen y naturaleza de las alertas antes y después del hardening.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ciclo integrando la defensa (blue team) junto al ataque (red team)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· ataque al firewall Ubuntu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alertas del agente firewall.nexora.lab reconstruyen la cadena de compromiso del perímetro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8339" y="1371600"/>
            <a:ext cx="5972881" cy="4709160"/>
          </a:xfrm>
          <a:prstGeom prst="roundRect">
            <a:avLst>
              <a:gd name="adj" fmla="val 116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siem_ubun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67" y="1481328"/>
            <a:ext cx="5753425" cy="44897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116 · Registros de Wazuh: login vulnerable y escalada a root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CORRELACIONADAS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5760 · T1110.001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fallos de autenticación SSH: fuerza bruta con Hydra.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100002 · T1078.003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SSH exitoso de svc_monitor: confirma la credencial débil (nivel 12).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100003 · T1548.003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a root vía sudo su -: acceso root al firewall confirmado y datado.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intentos de fuerza bruta y la escalada generan alertas nativas sin configuración extra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· movimiento lateral en Rocky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rocky.nexora.lab detecta el pivote desde el atacante hacia la red interna vía Samba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1843" y="1371600"/>
            <a:ext cx="4905874" cy="4709160"/>
          </a:xfrm>
          <a:prstGeom prst="roundRect">
            <a:avLst>
              <a:gd name="adj" fmla="val 116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siem_roc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571" y="1481328"/>
            <a:ext cx="4686418" cy="44897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117 · Accesos SMB a ficheros críticos registrados por el SIEM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DETECTADA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anónimo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Enumeración de todos los recursos compartidos sin credenciales.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Reutilización LDAP→SMB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mvidal y jroca extraídas del LDAP funcionan directamente en SMB.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Ficheros críticos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estrategia_2025.txt y de credenciales_servicios.txt + id_rsa.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reconstruye el movimiento lateral y el impacto de reutilizar credenciales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· contenedores de la DMZ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85039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logs de Apache y de Docker registran los vectores web y el saqueo del contenedor ftpsmtp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457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</a:t>
            </a:r>
            <a:pPr algn="r" indent="0" marL="0">
              <a:buNone/>
            </a:pPr>
            <a:r>
              <a:rPr lang="en-US" sz="12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0517" y="1371600"/>
            <a:ext cx="5788526" cy="4709160"/>
          </a:xfrm>
          <a:prstGeom prst="roundRect">
            <a:avLst>
              <a:gd name="adj" fmla="val 1165"/>
            </a:avLst>
          </a:prstGeom>
          <a:solidFill>
            <a:srgbClr val="1D3151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home/claude/assets/siem_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245" y="1481328"/>
            <a:ext cx="5569070" cy="44897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447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118 · Log del contenedor web: webshell, phpMyAdmin y WordPress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REGISTRADOS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47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 web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139696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a honeytokens (.env, config.php) y ejecución de la webshell (shell.php?cmd=id).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029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· aplicación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322320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phpMyAdmin, takeover de WordPress e inyecciones SQL en el login.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2123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 ftpsmtp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04944"/>
            <a:ext cx="406908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anónimo y descarga de honeytokens de /backup con credenciales de servicio.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5852160"/>
            <a:ext cx="4069080" cy="566928"/>
          </a:xfrm>
          <a:prstGeom prst="roundRect">
            <a:avLst>
              <a:gd name="adj" fmla="val 14516"/>
            </a:avLst>
          </a:prstGeom>
          <a:solidFill>
            <a:srgbClr val="1D3151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9832" y="5852160"/>
            <a:ext cx="3739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decoders personalizados en Wazuh para automatizar la detección web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280160"/>
            <a:ext cx="6949440" cy="9418320"/>
          </a:xfrm>
          <a:prstGeom prst="roundRect">
            <a:avLst>
              <a:gd name="adj" fmla="val 3947"/>
            </a:avLst>
          </a:prstGeom>
          <a:solidFill>
            <a:srgbClr val="16263F">
              <a:alpha val="5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509760" y="640080"/>
            <a:ext cx="17373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D315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548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515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eslabón más débil compromete el sistema completo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96596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riesgo no fueron exploits complejos, sino malas configuraciones fundamentales: contraseñas débiles reutilizadas, servicios de administración expuestos, credenciales en recursos compartidos y protocolos obsoletos.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3639312" cy="2514600"/>
          </a:xfrm>
          <a:prstGeom prst="roundRect">
            <a:avLst>
              <a:gd name="adj" fmla="val 327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33192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30098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Inmediato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6667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días · críticas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87368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svc_monitor y sudo sin contraseña · SSH sin password + 2FA · rotar todas las credenciales expuestas · cerrar LDAP y FTP anónimos.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61104" y="3063240"/>
            <a:ext cx="3639312" cy="2514600"/>
          </a:xfrm>
          <a:prstGeom prst="roundRect">
            <a:avLst>
              <a:gd name="adj" fmla="val 327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9704" y="33192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89704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84064" y="330098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Corto plazo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084064" y="36667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meses · altas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489704" y="4087368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preparadas · validar subidas · SMB2 cifrado · LDAPS · SNMPv3 · segmentar redes Docker · Fail2ban y nftables persistente.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19288" y="3063240"/>
            <a:ext cx="3639312" cy="2514600"/>
          </a:xfrm>
          <a:prstGeom prst="roundRect">
            <a:avLst>
              <a:gd name="adj" fmla="val 3273"/>
            </a:avLst>
          </a:prstGeom>
          <a:solidFill>
            <a:srgbClr val="16263F"/>
          </a:solidFill>
          <a:ln w="12700">
            <a:solidFill>
              <a:srgbClr val="2A42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47888" y="33192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47888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842248" y="330098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 plazo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842248" y="36667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meses · madurez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247888" y="4087368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formal de contraseñas · decoders Wazuh para honeytokens y ataques web · gestión de vulnerabilidades y respuesta a incidentes.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897880"/>
            <a:ext cx="11201400" cy="548640"/>
          </a:xfrm>
          <a:prstGeom prst="roundRect">
            <a:avLst>
              <a:gd name="adj" fmla="val 15000"/>
            </a:avLst>
          </a:prstGeom>
          <a:solidFill>
            <a:srgbClr val="1D3151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8978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completo —recon · enumeración · explotación · movimiento lateral · hardening · verificación— </a:t>
            </a:r>
            <a:pPr indent="0" marL="0">
              <a:buNone/>
            </a:pPr>
            <a:r>
              <a:rPr lang="en-US" sz="1250" dirty="0">
                <a:solidFill>
                  <a:srgbClr val="9C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un proceso de mejora continua viable con recursos limitados.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2026-09-09T13:52:14Z</dcterms:created>
  <dcterms:modified xsi:type="dcterms:W3CDTF">2026-09-09T13:52:14Z</dcterms:modified>
</cp:coreProperties>
</file>