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s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480560" cy="402336"/>
          </a:xfrm>
          <a:prstGeom prst="roundRect">
            <a:avLst>
              <a:gd name="adj" fmla="val 227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15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2 · PORTFOLIO DE CIBERSEGURIDAD</a:t>
            </a:r>
            <a:endParaRPr xmlns:a="http://schemas.openxmlformats.org/drawingml/2006/main"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lnSpc>
                <a:spcPts val="5200"/>
              </a:lnSpc>
              <a:buNone/>
            </a:pPr>
            <a:r xmlns:a="http://schemas.openxmlformats.org/drawingml/2006/main">
              <a:rPr lang="es" sz="4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 DE</a:t>
            </a:r>
            <a:endParaRPr xmlns:a="http://schemas.openxmlformats.org/drawingml/2006/main" lang="en-US" sz="4800" dirty="0"/>
          </a:p>
          <a:p>
            <a:pPr xmlns:a="http://schemas.openxmlformats.org/drawingml/2006/main" algn="l" indent="0" marL="0">
              <a:lnSpc>
                <a:spcPts val="5200"/>
              </a:lnSpc>
              <a:buNone/>
            </a:pPr>
            <a:r xmlns:a="http://schemas.openxmlformats.org/drawingml/2006/main">
              <a:rPr lang="es" sz="4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PENTESTING WEB</a:t>
            </a:r>
            <a:endParaRPr xmlns:a="http://schemas.openxmlformats.org/drawingml/2006/main"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reproducible con Docker · enumeración → explotación → escalada → root</a:t>
            </a:r>
            <a:endParaRPr xmlns:a="http://schemas.openxmlformats.org/drawingml/2006/main"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441655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41655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4416552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 — bash</a:t>
            </a:r>
            <a:endParaRPr xmlns:a="http://schemas.openxmlformats.org/drawingml/2006/main"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727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root@labnet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5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:~#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xmlns:a="http://schemas.openxmlformats.org/drawingml/2006/main"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0932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3 objetivos levantados en labnet 172.30.0.0/24</a:t>
            </a:r>
            <a:endParaRPr xmlns:a="http://schemas.openxmlformats.org/drawingml/2006/main"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juice-shop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xmlns:a="http://schemas.openxmlformats.org/drawingml/2006/main"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Uso exclusivo en laboratorio aislado · objetivos vulnerables a propósito</a:t>
            </a:r>
            <a:endParaRPr xmlns:a="http://schemas.openxmlformats.org/drawingml/2006/main"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MOTIVACIÓN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un laboratorio con Docker</a:t>
            </a:r>
            <a:endParaRPr xmlns:a="http://schemas.openxmlformats.org/drawingml/2006/main"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ventajas con respecto a montar máquinas virtuales a mano.</a:t>
            </a:r>
            <a:endParaRPr xmlns:a="http://schemas.openxmlformats.org/drawingml/2006/main"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xmlns:a="http://schemas.openxmlformats.org/drawingml/2006/main"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</a:t>
            </a:r>
            <a:endParaRPr xmlns:a="http://schemas.openxmlformats.org/drawingml/2006/main"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make up recrea todo el entorno, idéntico, en cualquier máquina con Docker.</a:t>
            </a:r>
            <a:endParaRPr xmlns:a="http://schemas.openxmlformats.org/drawingml/2006/main"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xmlns:a="http://schemas.openxmlformats.org/drawingml/2006/main"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AISLADO</a:t>
            </a:r>
            <a:endParaRPr xmlns:a="http://schemas.openxmlformats.org/drawingml/2006/main"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propia (labnet) y puertos ligados a 127.0.0.1: nada queda expuesto en tu LAN.</a:t>
            </a:r>
            <a:endParaRPr xmlns:a="http://schemas.openxmlformats.org/drawingml/2006/main"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xmlns:a="http://schemas.openxmlformats.org/drawingml/2006/main"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21624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</a:t>
            </a:r>
            <a:endParaRPr xmlns:a="http://schemas.openxmlformats.org/drawingml/2006/main"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sin rastro con make clean. Sin imágenes de VM de decenas de GB.</a:t>
            </a:r>
            <a:endParaRPr xmlns:a="http://schemas.openxmlformats.org/drawingml/2006/main"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ARQUITECTURA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estructura el laboratorio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 · red Docker aislada · 172.30.0.0/24</a:t>
            </a:r>
            <a:endParaRPr xmlns:a="http://schemas.openxmlformats.org/drawingml/2006/main"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xmlns:a="http://schemas.openxmlformats.org/drawingml/2006/main"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propio · boot2root</a:t>
            </a:r>
            <a:endParaRPr xmlns:a="http://schemas.openxmlformats.org/drawingml/2006/main"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172.30.0.10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→ 8000</a:t>
            </a:r>
            <a:endParaRPr xmlns:a="http://schemas.openxmlformats.org/drawingml/2006/main"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</a:t>
            </a:r>
            <a:endParaRPr xmlns:a="http://schemas.openxmlformats.org/drawingml/2006/main"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Vulnos web dirigidas</a:t>
            </a:r>
            <a:endParaRPr xmlns:a="http://schemas.openxmlformats.org/drawingml/2006/main"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172.30.0.11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→ 8080</a:t>
            </a:r>
            <a:endParaRPr xmlns:a="http://schemas.openxmlformats.org/drawingml/2006/main"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xmlns:a="http://schemas.openxmlformats.org/drawingml/2006/main"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moderno</a:t>
            </a:r>
            <a:endParaRPr xmlns:a="http://schemas.openxmlformats.org/drawingml/2006/main"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410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172.30.0.12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 → 3000</a:t>
            </a:r>
            <a:endParaRPr xmlns:a="http://schemas.openxmlformats.org/drawingml/2006/main"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50749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host / Kali</a:t>
            </a:r>
            <a:endParaRPr xmlns:a="http://schemas.openxmlformats.org/drawingml/2006/main"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(atacante) → puertos a 127.0.0.1</a:t>
            </a:r>
            <a:endParaRPr xmlns:a="http://schemas.openxmlformats.org/drawingml/2006/main"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663440"/>
            <a:ext cx="0" cy="41148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OBJETIVOS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tres objetivos para practicar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xmlns:a="http://schemas.openxmlformats.org/drawingml/2006/main"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88920" y="1801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xmlns:a="http://schemas.openxmlformats.org/drawingml/2006/main"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88920" y="2148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propio "boot2root"</a:t>
            </a:r>
            <a:endParaRPr xmlns:a="http://schemas.openxmlformats.org/drawingml/2006/main"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6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entera en una máquina: enumeración → command inyección → foothold → sudo/find → root.</a:t>
            </a:r>
            <a:endParaRPr xmlns:a="http://schemas.openxmlformats.org/drawingml/2006/main"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CREDENCIALES</a:t>
            </a:r>
            <a:endParaRPr xmlns:a="http://schemas.openxmlformats.org/drawingml/2006/main"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xmlns:a="http://schemas.openxmlformats.org/drawingml/2006/main"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56432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64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</a:t>
            </a:r>
            <a:endParaRPr xmlns:a="http://schemas.openxmlformats.org/drawingml/2006/main"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8892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</a:t>
            </a:r>
            <a:endParaRPr xmlns:a="http://schemas.openxmlformats.org/drawingml/2006/main"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88920" y="3730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Web App</a:t>
            </a:r>
            <a:endParaRPr xmlns:a="http://schemas.openxmlformats.org/drawingml/2006/main"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40050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6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web dirigidas (SQLi, XSS, upload, LFI) con niveles Low/Medium/High.</a:t>
            </a:r>
            <a:endParaRPr xmlns:a="http://schemas.openxmlformats.org/drawingml/2006/main"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69680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CREDENCIALES</a:t>
            </a:r>
            <a:endParaRPr xmlns:a="http://schemas.openxmlformats.org/drawingml/2006/main"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3803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password</a:t>
            </a:r>
            <a:endParaRPr xmlns:a="http://schemas.openxmlformats.org/drawingml/2006/main"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64024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038344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3834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xmlns:a="http://schemas.openxmlformats.org/drawingml/2006/main"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88920" y="4965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xmlns:a="http://schemas.openxmlformats.org/drawingml/2006/main"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88920" y="5312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</a:t>
            </a:r>
            <a:endParaRPr xmlns:a="http://schemas.openxmlformats.org/drawingml/2006/main"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8920" y="5586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6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moderna (Node/Angular) con el OWASP Top 10 y retos tipo CTF.</a:t>
            </a:r>
            <a:endParaRPr xmlns:a="http://schemas.openxmlformats.org/drawingml/2006/main"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69680" y="5084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CREDENCIALES</a:t>
            </a:r>
            <a:endParaRPr xmlns:a="http://schemas.openxmlformats.org/drawingml/2006/main"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5385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libre</a:t>
            </a:r>
            <a:endParaRPr xmlns:a="http://schemas.openxmlformats.org/drawingml/2006/main"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PUESTA EN MARCHA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Levanta el laboratorio en un minuto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2880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8288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xmlns:a="http://schemas.openxmlformats.org/drawingml/2006/main"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clona y entra en el proyecto</a:t>
            </a:r>
            <a:endParaRPr xmlns:a="http://schemas.openxmlformats.org/drawingml/2006/main"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&amp;&amp; cd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lab-pentesting-web-docker</a:t>
            </a:r>
            <a:endParaRPr xmlns:a="http://schemas.openxmlformats.org/drawingml/2006/main"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28437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1455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levanta los 3 objetivos (build + arranca)</a:t>
            </a:r>
            <a:endParaRPr xmlns:a="http://schemas.openxmlformats.org/drawingml/2006/main"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xmlns:a="http://schemas.openxmlformats.org/drawingml/2006/main"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050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comprueba que corren</a:t>
            </a:r>
            <a:endParaRPr xmlns:a="http://schemas.openxmlformats.org/drawingml/2006/main"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status</a:t>
            </a:r>
            <a:endParaRPr xmlns:a="http://schemas.openxmlformats.org/drawingml/2006/main"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46542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956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cuando acabes</a:t>
            </a:r>
            <a:endParaRPr xmlns:a="http://schemas.openxmlformats.org/drawingml/2006/main"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down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</a:t>
            </a:r>
            <a:endParaRPr xmlns:a="http://schemas.openxmlformats.org/drawingml/2006/main"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559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elimínalo todo</a:t>
            </a:r>
            <a:endParaRPr xmlns:a="http://schemas.openxmlformats.org/drawingml/2006/main"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18120" y="155448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 EN EL NAVEGADOR</a:t>
            </a:r>
            <a:endParaRPr xmlns:a="http://schemas.openxmlformats.org/drawingml/2006/main"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10728" y="2221992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vulnerable-web</a:t>
            </a:r>
            <a:endParaRPr xmlns:a="http://schemas.openxmlformats.org/drawingml/2006/main"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</a:t>
            </a:r>
            <a:endParaRPr xmlns:a="http://schemas.openxmlformats.org/drawingml/2006/main"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10728" y="2724912"/>
            <a:ext cx="128016" cy="12801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xmlns:a="http://schemas.openxmlformats.org/drawingml/2006/main"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127.0.0.1:8080</a:t>
            </a:r>
            <a:endParaRPr xmlns:a="http://schemas.openxmlformats.org/drawingml/2006/main"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0728" y="3227832"/>
            <a:ext cx="128016" cy="12801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</a:t>
            </a:r>
            <a:endParaRPr xmlns:a="http://schemas.openxmlformats.org/drawingml/2006/main"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469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127.0.0.1:3000</a:t>
            </a:r>
            <a:endParaRPr xmlns:a="http://schemas.openxmlformats.org/drawingml/2006/main"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388620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DE ATAQUE</a:t>
            </a:r>
            <a:endParaRPr xmlns:a="http://schemas.openxmlformats.org/drawingml/2006/main"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attacker</a:t>
            </a:r>
            <a:endParaRPr xmlns:a="http://schemas.openxmlformats.org/drawingml/2006/main"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92440" y="48006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700"/>
              </a:lnSpc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una shell Kali conectada a labnet para atacar a las IPs internas 172.30.0.x. Instala las herramientas que necesites una vez dentro.</a:t>
            </a:r>
            <a:endParaRPr xmlns:a="http://schemas.openxmlformats.org/drawingml/2006/main"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TARGET PROPIO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cadena de ataque, paso a paso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64208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xmlns:a="http://schemas.openxmlformats.org/drawingml/2006/main"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82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Enumeración</a:t>
            </a:r>
            <a:endParaRPr xmlns:a="http://schemas.openxmlformats.org/drawingml/2006/main"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el puerto 80 y las rutas /admin, /backup y /ping.php.</a:t>
            </a:r>
            <a:endParaRPr xmlns:a="http://schemas.openxmlformats.org/drawingml/2006/main"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49640" y="1801368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8013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+ gobuster</a:t>
            </a:r>
            <a:endParaRPr xmlns:a="http://schemas.openxmlformats.org/drawingml/2006/main"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34440" y="2532888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42616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xmlns:a="http://schemas.openxmlformats.org/drawingml/2006/main"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660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Recolección de pistas</a:t>
            </a:r>
            <a:endParaRPr xmlns:a="http://schemas.openxmlformats.org/drawingml/2006/main"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990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filtrada delata credenciales y que el ping no valida la entrada.</a:t>
            </a:r>
            <a:endParaRPr xmlns:a="http://schemas.openxmlformats.org/drawingml/2006/main"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49640" y="2779776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7797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/backup/notes.txt</a:t>
            </a:r>
            <a:endParaRPr xmlns:a="http://schemas.openxmlformats.org/drawingml/2006/main"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34440" y="3511296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21024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xmlns:a="http://schemas.openxmlformats.org/drawingml/2006/main"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Explotación</a:t>
            </a:r>
            <a:endParaRPr xmlns:a="http://schemas.openxmlformats.org/drawingml/2006/main"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9684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host=127.0.0.1;id en /ping.php da ejecución de código como www-data.</a:t>
            </a:r>
            <a:endParaRPr xmlns:a="http://schemas.openxmlformats.org/drawingml/2006/main"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49640" y="3758184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7581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2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Injection</a:t>
            </a:r>
            <a:endParaRPr xmlns:a="http://schemas.openxmlformats.org/drawingml/2006/main"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234440" y="4489704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99432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xmlns:a="http://schemas.openxmlformats.org/drawingml/2006/main"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Foothold</a:t>
            </a:r>
            <a:endParaRPr xmlns:a="http://schemas.openxmlformats.org/drawingml/2006/main"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9469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estable como www-fecha + captura de user_flag.</a:t>
            </a:r>
            <a:endParaRPr xmlns:a="http://schemas.openxmlformats.org/drawingml/2006/main"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549640" y="4736592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736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2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shell</a:t>
            </a:r>
            <a:endParaRPr xmlns:a="http://schemas.openxmlformats.org/drawingml/2006/main"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234440" y="5468112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577840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577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xmlns:a="http://schemas.openxmlformats.org/drawingml/2006/main"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50876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Escalada</a:t>
            </a:r>
            <a:endParaRPr xmlns:a="http://schemas.openxmlformats.org/drawingml/2006/main"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08760" y="59253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-l revela find como root → root shell + root_flag.</a:t>
            </a:r>
            <a:endParaRPr xmlns:a="http://schemas.openxmlformats.org/drawingml/2006/main"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549640" y="5715000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5715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2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find · GTFOBins</a:t>
            </a:r>
            <a:endParaRPr xmlns:a="http://schemas.openxmlformats.org/drawingml/2006/main"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HERRAMIENTAS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Arsenal por fase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xmlns:a="http://schemas.openxmlformats.org/drawingml/2006/main"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ENUMERACIÓN</a:t>
            </a:r>
            <a:endParaRPr xmlns:a="http://schemas.openxmlformats.org/drawingml/2006/main"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874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gobuster / dirbuster · ffuf · nikto · whatweb</a:t>
            </a:r>
            <a:endParaRPr xmlns:a="http://schemas.openxmlformats.org/drawingml/2006/main"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3639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xmlns:a="http://schemas.openxmlformats.org/drawingml/2006/main"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spc="10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VULNERABILIDADES</a:t>
            </a:r>
            <a:endParaRPr xmlns:a="http://schemas.openxmlformats.org/drawingml/2006/main"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searchsploit · Exploit-DB · Nmap NSE (--script vuln)</a:t>
            </a:r>
            <a:endParaRPr xmlns:a="http://schemas.openxmlformats.org/drawingml/2006/main"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2511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xmlns:a="http://schemas.openxmlformats.org/drawingml/2006/main"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EXPLOTACIÓN</a:t>
            </a:r>
            <a:endParaRPr xmlns:a="http://schemas.openxmlformats.org/drawingml/2006/main"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 (Metasploit) · sqlmap · exploits manuales</a:t>
            </a:r>
            <a:endParaRPr xmlns:a="http://schemas.openxmlformats.org/drawingml/2006/main"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138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13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xmlns:a="http://schemas.openxmlformats.org/drawingml/2006/main"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ESCALADA</a:t>
            </a:r>
            <a:endParaRPr xmlns:a="http://schemas.openxmlformats.org/drawingml/2006/main"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440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LinPEAS · lse.sh · pspy · GTFOBins</a:t>
            </a:r>
            <a:endParaRPr xmlns:a="http://schemas.openxmlformats.org/drawingml/2006/main"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1200" b="1" spc="2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LÍMITES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s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Aislamiento y ética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3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xmlns:a="http://schemas.openxmlformats.org/drawingml/2006/main"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contenedores son vulnerables a propósito. Tratarlos como material peligroso.</a:t>
            </a:r>
            <a:endParaRPr xmlns:a="http://schemas.openxmlformats.org/drawingml/2006/main"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18688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Puertos en localhost</a:t>
            </a:r>
            <a:endParaRPr xmlns:a="http://schemas.openxmlformats.org/drawingml/2006/main"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sólo se exponen en 127.0.0.1: no llegan a tu red local ni a Internet.</a:t>
            </a:r>
            <a:endParaRPr xmlns:a="http://schemas.openxmlformats.org/drawingml/2006/main"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218688"/>
            <a:ext cx="146304" cy="146304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Nunca contra terceros</a:t>
            </a:r>
            <a:endParaRPr xmlns:a="http://schemas.openxmlformats.org/drawingml/2006/main"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sólo en tu lab o en plataformas que autorizan el ataque (TryHackMe, HTB, VulnHub).</a:t>
            </a:r>
            <a:endParaRPr xmlns:a="http://schemas.openxmlformats.org/drawingml/2006/main"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9087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5074920"/>
            <a:ext cx="146304" cy="146304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y autorización</a:t>
            </a:r>
            <a:endParaRPr xmlns:a="http://schemas.openxmlformats.org/drawingml/2006/main"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3766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encargo real, el alcance y permiso por escrito son el 50% del trabajo. Documenta siempre.</a:t>
            </a:r>
            <a:endParaRPr xmlns:a="http://schemas.openxmlformats.org/drawingml/2006/main"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69087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5074920"/>
            <a:ext cx="146304" cy="14630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Borrado limpio</a:t>
            </a:r>
            <a:endParaRPr xmlns:a="http://schemas.openxmlformats.org/drawingml/2006/main"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53766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clean elimina contenedores, volúmenes e imágenes cuando acabes la sesión.</a:t>
            </a:r>
            <a:endParaRPr xmlns:a="http://schemas.openxmlformats.org/drawingml/2006/main"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root@labnet:~#</a:t>
            </a:r>
            <a:endParaRPr xmlns:a="http://schemas.openxmlformats.org/drawingml/2006/main"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4200"/>
              </a:lnSpc>
              <a:buNone/>
            </a:pPr>
            <a:r xmlns:a="http://schemas.openxmlformats.org/drawingml/2006/main">
              <a:rPr lang="es" sz="3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Empieza por el target propio</a:t>
            </a:r>
            <a:endParaRPr xmlns:a="http://schemas.openxmlformats.org/drawingml/2006/main" lang="en-US" sz="3400" dirty="0"/>
          </a:p>
          <a:p>
            <a:pPr xmlns:a="http://schemas.openxmlformats.org/drawingml/2006/main" indent="0" marL="0">
              <a:lnSpc>
                <a:spcPts val="4200"/>
              </a:lnSpc>
              <a:buNone/>
            </a:pPr>
            <a:r xmlns:a="http://schemas.openxmlformats.org/drawingml/2006/main">
              <a:rPr lang="es" sz="3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completa la cadena hasta root.</a:t>
            </a:r>
            <a:endParaRPr xmlns:a="http://schemas.openxmlformats.org/drawingml/2006/main"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xmlns:a="http://schemas.openxmlformats.org/drawingml/2006/main"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xmlns:a="http://schemas.openxmlformats.org/drawingml/2006/main"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34930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el laboratorio y comprueba los 3 objetivos.</a:t>
            </a:r>
            <a:endParaRPr xmlns:a="http://schemas.openxmlformats.org/drawingml/2006/main"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70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xmlns:a="http://schemas.openxmlformats.org/drawingml/2006/main"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2428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xmlns:a="http://schemas.openxmlformats.org/drawingml/2006/main"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2428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 la cadena entera: enumeración → root.</a:t>
            </a:r>
            <a:endParaRPr xmlns:a="http://schemas.openxmlformats.org/drawingml/2006/main"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xmlns:a="http://schemas.openxmlformats.org/drawingml/2006/main"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9926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 · Juice Shop</a:t>
            </a:r>
            <a:endParaRPr xmlns:a="http://schemas.openxmlformats.org/drawingml/2006/main"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99262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 en vulnerabilidades web concretas.</a:t>
            </a:r>
            <a:endParaRPr xmlns:a="http://schemas.openxmlformats.org/drawingml/2006/main"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7698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s" sz="16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xmlns:a="http://schemas.openxmlformats.org/drawingml/2006/main"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742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</a:t>
            </a:r>
            <a:endParaRPr xmlns:a="http://schemas.openxmlformats.org/drawingml/2006/main"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57424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Pasos, evidencias, impacto y remediación en tu writeup.</a:t>
            </a:r>
            <a:endParaRPr xmlns:a="http://schemas.openxmlformats.org/drawingml/2006/main"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GUÍA-METODOLOGÍA.md para el detalle de cada fase.</a:t>
            </a:r>
            <a:endParaRPr xmlns:a="http://schemas.openxmlformats.org/drawingml/2006/main"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2026-07-30T14:28:02Z</dcterms:created>
  <dcterms:modified xsi:type="dcterms:W3CDTF">2026-07-30T14:28:02Z</dcterms:modified>
</cp:coreProperties>
</file>