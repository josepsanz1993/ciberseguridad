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en" dirty="0"/>
              <a:t/>
            </a:r>
            <a:endParaRPr xmlns:a="http://schemas.openxmlformats.org/drawingml/2006/main"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480560" cy="402336"/>
          </a:xfrm>
          <a:prstGeom prst="roundRect">
            <a:avLst>
              <a:gd name="adj" fmla="val 2272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4864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50" b="1" spc="1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2 · CYBERSECURITY PORTFOLIO</a:t>
            </a:r>
            <a:endParaRPr xmlns:a="http://schemas.openxmlformats.org/drawingml/2006/main"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lnSpc>
                <a:spcPts val="5200"/>
              </a:lnSpc>
              <a:buNone/>
            </a:pPr>
            <a:r xmlns:a="http://schemas.openxmlformats.org/drawingml/2006/main">
              <a:rPr lang="en" sz="4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LABORATORY OF</a:t>
            </a:r>
            <a:endParaRPr xmlns:a="http://schemas.openxmlformats.org/drawingml/2006/main" lang="en-US" sz="4800" dirty="0"/>
          </a:p>
          <a:p>
            <a:pPr xmlns:a="http://schemas.openxmlformats.org/drawingml/2006/main" algn="l" indent="0" marL="0">
              <a:lnSpc>
                <a:spcPts val="5200"/>
              </a:lnSpc>
              <a:buNone/>
            </a:pPr>
            <a:r xmlns:a="http://schemas.openxmlformats.org/drawingml/2006/main">
              <a:rPr lang="en" sz="48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 PENTESTING</a:t>
            </a:r>
            <a:endParaRPr xmlns:a="http://schemas.openxmlformats.org/drawingml/2006/main"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66928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8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environment with Docker · enumeration → exploitation → scaling → root</a:t>
            </a:r>
            <a:endParaRPr xmlns:a="http://schemas.openxmlformats.org/drawingml/2006/main"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160520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4416552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441655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7008" y="4416552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4306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labnet — bash</a:t>
            </a:r>
            <a:endParaRPr xmlns:a="http://schemas.openxmlformats.org/drawingml/2006/main"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7274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5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root@labnet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50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:~#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up</a:t>
            </a:r>
            <a:endParaRPr xmlns:a="http://schemas.openxmlformats.org/drawingml/2006/main"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09320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[+] 3 targets raised on labnet 172.30.0.0/24</a:t>
            </a:r>
            <a:endParaRPr xmlns:a="http://schemas.openxmlformats.org/drawingml/2006/main"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4589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juice-shop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xmlns:a="http://schemas.openxmlformats.org/drawingml/2006/main"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Exclusive use in isolated laboratory · vulnerable targets on purpose</a:t>
            </a:r>
            <a:endParaRPr xmlns:a="http://schemas.openxmlformats.org/drawingml/2006/main"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MOTIVATION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 lab with Docker?</a:t>
            </a:r>
            <a:endParaRPr xmlns:a="http://schemas.openxmlformats.org/drawingml/2006/main"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advantages over setting up virtual machines by hand.</a:t>
            </a:r>
            <a:endParaRPr xmlns:a="http://schemas.openxmlformats.org/drawingml/2006/main"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C2430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xmlns:a="http://schemas.openxmlformats.org/drawingml/2006/main"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80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REPRODUCIBLE</a:t>
            </a:r>
            <a:endParaRPr xmlns:a="http://schemas.openxmlformats.org/drawingml/2006/main"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2000"/>
              </a:lnSpc>
              <a:buNone/>
            </a:pPr>
            <a:r xmlns:a="http://schemas.openxmlformats.org/drawingml/2006/main">
              <a:rPr lang="en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make up recreates the entire environment, identically, on any machine with Docker.</a:t>
            </a:r>
            <a:endParaRPr xmlns:a="http://schemas.openxmlformats.org/drawingml/2006/main"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5112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3317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C2430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6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xmlns:a="http://schemas.openxmlformats.org/drawingml/2006/main"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45152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80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ISOLATED</a:t>
            </a:r>
            <a:endParaRPr xmlns:a="http://schemas.openxmlformats.org/drawingml/2006/main"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45152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2000"/>
              </a:lnSpc>
              <a:buNone/>
            </a:pPr>
            <a:r xmlns:a="http://schemas.openxmlformats.org/drawingml/2006/main">
              <a:rPr lang="en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network (labnet) and ports bound to 127.0.0.1: nothing is exposed on your LAN.</a:t>
            </a:r>
            <a:endParaRPr xmlns:a="http://schemas.openxmlformats.org/drawingml/2006/main"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1965960"/>
            <a:ext cx="3520440" cy="3566160"/>
          </a:xfrm>
          <a:prstGeom prst="roundRect">
            <a:avLst>
              <a:gd name="adj" fmla="val 233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1624" y="2331720"/>
            <a:ext cx="868680" cy="868680"/>
          </a:xfrm>
          <a:prstGeom prst="roundRect">
            <a:avLst>
              <a:gd name="adj" fmla="val 14737"/>
            </a:avLst>
          </a:prstGeom>
          <a:solidFill>
            <a:srgbClr val="1C2430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6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xmlns:a="http://schemas.openxmlformats.org/drawingml/2006/main"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421624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800" b="1" spc="100" kern="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NET</a:t>
            </a:r>
            <a:endParaRPr xmlns:a="http://schemas.openxmlformats.org/drawingml/2006/main"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21624" y="39776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2000"/>
              </a:lnSpc>
              <a:buNone/>
            </a:pPr>
            <a:r xmlns:a="http://schemas.openxmlformats.org/drawingml/2006/main">
              <a:rPr lang="en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removed without a trace with make clean . No VM images of tens of GB.</a:t>
            </a:r>
            <a:endParaRPr xmlns:a="http://schemas.openxmlformats.org/drawingml/2006/main"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ARCHITECTURE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laboratory is structured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3063240"/>
          </a:xfrm>
          <a:prstGeom prst="roundRect">
            <a:avLst>
              <a:gd name="adj" fmla="val 179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0136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labnet · isolated Docker network · 172.30.0.0/24</a:t>
            </a:r>
            <a:endParaRPr xmlns:a="http://schemas.openxmlformats.org/drawingml/2006/main"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4231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</a:t>
            </a:r>
            <a:endParaRPr xmlns:a="http://schemas.openxmlformats.org/drawingml/2006/main"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target · boot2root</a:t>
            </a:r>
            <a:endParaRPr xmlns:a="http://schemas.openxmlformats.org/drawingml/2006/main"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172.30.0.10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 → 8000</a:t>
            </a:r>
            <a:endParaRPr xmlns:a="http://schemas.openxmlformats.org/drawingml/2006/main"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</a:t>
            </a:r>
            <a:endParaRPr xmlns:a="http://schemas.openxmlformats.org/drawingml/2006/main"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web pages</a:t>
            </a:r>
            <a:endParaRPr xmlns:a="http://schemas.openxmlformats.org/drawingml/2006/main"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834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172.30.0.11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 → 8080</a:t>
            </a:r>
            <a:endParaRPr xmlns:a="http://schemas.openxmlformats.org/drawingml/2006/main"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412480" y="2423160"/>
            <a:ext cx="3200400" cy="1828800"/>
          </a:xfrm>
          <a:prstGeom prst="roundRect">
            <a:avLst>
              <a:gd name="adj" fmla="val 4000"/>
            </a:avLst>
          </a:prstGeom>
          <a:solidFill>
            <a:srgbClr val="1C2430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41080" y="2651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 Shop</a:t>
            </a:r>
            <a:endParaRPr xmlns:a="http://schemas.openxmlformats.org/drawingml/2006/main"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41080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Modern</a:t>
            </a:r>
            <a:endParaRPr xmlns:a="http://schemas.openxmlformats.org/drawingml/2006/main"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41080" y="34747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172.30.0.12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</a:t>
            </a:r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2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 → 3000</a:t>
            </a:r>
            <a:endParaRPr xmlns:a="http://schemas.openxmlformats.org/drawingml/2006/main"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480560" y="5074920"/>
            <a:ext cx="3200400" cy="960120"/>
          </a:xfrm>
          <a:prstGeom prst="roundRect">
            <a:avLst>
              <a:gd name="adj" fmla="val 9524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5212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host / Kali</a:t>
            </a:r>
            <a:endParaRPr xmlns:a="http://schemas.openxmlformats.org/drawingml/2006/main"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480560" y="5577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(attacker) → ports to 127.0.0.1</a:t>
            </a:r>
            <a:endParaRPr xmlns:a="http://schemas.openxmlformats.org/drawingml/2006/main"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4663440"/>
            <a:ext cx="0" cy="411480"/>
          </a:xfrm>
          <a:prstGeom prst="line">
            <a:avLst/>
          </a:prstGeom>
          <a:noFill/>
          <a:ln w="25400">
            <a:solidFill>
              <a:srgbClr val="3FB950"/>
            </a:solidFill>
            <a:prstDash val="solid"/>
            <a:headEnd type="triangle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OBJECTIVES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three goals to practice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C2430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:8000</a:t>
            </a:r>
            <a:endParaRPr xmlns:a="http://schemas.openxmlformats.org/drawingml/2006/main"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88920" y="1801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</a:t>
            </a:r>
            <a:endParaRPr xmlns:a="http://schemas.openxmlformats.org/drawingml/2006/main"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788920" y="21488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i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target "boot2root"</a:t>
            </a:r>
            <a:endParaRPr xmlns:a="http://schemas.openxmlformats.org/drawingml/2006/main"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88920" y="24231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600"/>
              </a:lnSpc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chain on a machine: enumeration → command injection → foothold → sudo/find → root.</a:t>
            </a:r>
            <a:endParaRPr xmlns:a="http://schemas.openxmlformats.org/drawingml/2006/main"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869680" y="19202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</a:t>
            </a:r>
            <a:endParaRPr xmlns:a="http://schemas.openxmlformats.org/drawingml/2006/main"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869680" y="2221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xmlns:a="http://schemas.openxmlformats.org/drawingml/2006/main"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82112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56432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C2430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564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:8080</a:t>
            </a:r>
            <a:endParaRPr xmlns:a="http://schemas.openxmlformats.org/drawingml/2006/main"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88920" y="33832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</a:t>
            </a:r>
            <a:endParaRPr xmlns:a="http://schemas.openxmlformats.org/drawingml/2006/main"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788920" y="37307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Damn Vulnerable Web App</a:t>
            </a:r>
            <a:endParaRPr xmlns:a="http://schemas.openxmlformats.org/drawingml/2006/main"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88920" y="400507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600"/>
              </a:lnSpc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web vulnerabilities (SQLi, XSS, upload, LFI) with Low / Medium / High levels.</a:t>
            </a:r>
            <a:endParaRPr xmlns:a="http://schemas.openxmlformats.org/drawingml/2006/main"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869680" y="350215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</a:t>
            </a:r>
            <a:endParaRPr xmlns:a="http://schemas.openxmlformats.org/drawingml/2006/main"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0" y="38039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 / password</a:t>
            </a:r>
            <a:endParaRPr xmlns:a="http://schemas.openxmlformats.org/drawingml/2006/main"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764024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038344"/>
            <a:ext cx="1737360" cy="868680"/>
          </a:xfrm>
          <a:prstGeom prst="roundRect">
            <a:avLst>
              <a:gd name="adj" fmla="val 10526"/>
            </a:avLst>
          </a:prstGeom>
          <a:solidFill>
            <a:srgbClr val="1C2430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038344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:3000</a:t>
            </a:r>
            <a:endParaRPr xmlns:a="http://schemas.openxmlformats.org/drawingml/2006/main"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88920" y="49651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7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Juice Shop</a:t>
            </a:r>
            <a:endParaRPr xmlns:a="http://schemas.openxmlformats.org/drawingml/2006/main"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788920" y="531266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Juice Shop</a:t>
            </a:r>
            <a:endParaRPr xmlns:a="http://schemas.openxmlformats.org/drawingml/2006/main"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88920" y="558698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600"/>
              </a:lnSpc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app (Node/Angular) with the OWASP Top 10 and CTF type challenges.</a:t>
            </a:r>
            <a:endParaRPr xmlns:a="http://schemas.openxmlformats.org/drawingml/2006/main"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869680" y="50840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0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</a:t>
            </a:r>
            <a:endParaRPr xmlns:a="http://schemas.openxmlformats.org/drawingml/2006/main"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69680" y="5385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 registration</a:t>
            </a:r>
            <a:endParaRPr xmlns:a="http://schemas.openxmlformats.org/drawingml/2006/main"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START UP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 the lab in one minute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040880" cy="4480560"/>
          </a:xfrm>
          <a:prstGeom prst="roundRect">
            <a:avLst>
              <a:gd name="adj" fmla="val 1224"/>
            </a:avLst>
          </a:prstGeom>
          <a:solidFill>
            <a:srgbClr val="0B0F14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109728" cy="109728"/>
          </a:xfrm>
          <a:prstGeom prst="ellipse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1828800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25296" y="1828800"/>
            <a:ext cx="109728" cy="109728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xmlns:a="http://schemas.openxmlformats.org/drawingml/2006/main"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clone and enter the project</a:t>
            </a:r>
            <a:endParaRPr xmlns:a="http://schemas.openxmlformats.org/drawingml/2006/main"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54203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 &amp;&amp; cd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lab-pentesting-web-docker</a:t>
            </a:r>
            <a:endParaRPr xmlns:a="http://schemas.openxmlformats.org/drawingml/2006/main"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284378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68680" y="31455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raise the 3 targets (build + boot)</a:t>
            </a:r>
            <a:endParaRPr xmlns:a="http://schemas.openxmlformats.org/drawingml/2006/main"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68680" y="34472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make-up</a:t>
            </a:r>
            <a:endParaRPr xmlns:a="http://schemas.openxmlformats.org/drawingml/2006/main"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68680" y="37490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68680" y="405079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that they are running</a:t>
            </a:r>
            <a:endParaRPr xmlns:a="http://schemas.openxmlformats.org/drawingml/2006/main"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8680" y="435254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status</a:t>
            </a:r>
            <a:endParaRPr xmlns:a="http://schemas.openxmlformats.org/drawingml/2006/main"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68680" y="465429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68680" y="495604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when you finish</a:t>
            </a:r>
            <a:endParaRPr xmlns:a="http://schemas.openxmlformats.org/drawingml/2006/main"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down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stop</a:t>
            </a:r>
            <a:endParaRPr xmlns:a="http://schemas.openxmlformats.org/drawingml/2006/main"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5559552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clean </a:t>
            </a:r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3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everything</a:t>
            </a:r>
            <a:endParaRPr xmlns:a="http://schemas.openxmlformats.org/drawingml/2006/main"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18120" y="1554480"/>
            <a:ext cx="379476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178308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 IN THE BROWSER</a:t>
            </a:r>
            <a:endParaRPr xmlns:a="http://schemas.openxmlformats.org/drawingml/2006/main"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10728" y="2221992"/>
            <a:ext cx="128016" cy="128016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2103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vulnerable-web</a:t>
            </a:r>
            <a:endParaRPr xmlns:a="http://schemas.openxmlformats.org/drawingml/2006/main"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4692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127.0.0.1:8000</a:t>
            </a:r>
            <a:endParaRPr xmlns:a="http://schemas.openxmlformats.org/drawingml/2006/main"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110728" y="2724912"/>
            <a:ext cx="128016" cy="128016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66760" y="2606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</a:t>
            </a:r>
            <a:endParaRPr xmlns:a="http://schemas.openxmlformats.org/drawingml/2006/main"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469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127.0.0.1:8080</a:t>
            </a:r>
            <a:endParaRPr xmlns:a="http://schemas.openxmlformats.org/drawingml/2006/main"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10728" y="3227832"/>
            <a:ext cx="128016" cy="128016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Juice Shop</a:t>
            </a:r>
            <a:endParaRPr xmlns:a="http://schemas.openxmlformats.org/drawingml/2006/main"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46920" y="3108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r" indent="0" marL="0">
              <a:buNone/>
            </a:pPr>
            <a:r xmlns:a="http://schemas.openxmlformats.org/drawingml/2006/main">
              <a:rPr lang="en" sz="12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127.0.0.1:3000</a:t>
            </a:r>
            <a:endParaRPr xmlns:a="http://schemas.openxmlformats.org/drawingml/2006/main"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818120" y="3886200"/>
            <a:ext cx="3794760" cy="2148840"/>
          </a:xfrm>
          <a:prstGeom prst="roundRect">
            <a:avLst>
              <a:gd name="adj" fmla="val 383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092440" y="411480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100" spc="100" kern="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SHELL</a:t>
            </a:r>
            <a:endParaRPr xmlns:a="http://schemas.openxmlformats.org/drawingml/2006/main"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92440" y="4434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attacker</a:t>
            </a:r>
            <a:endParaRPr xmlns:a="http://schemas.openxmlformats.org/drawingml/2006/main"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092440" y="48006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700"/>
              </a:lnSpc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Kali shell connected to labnet to attack the internal IPs 172.30.0.x. Install the tools you need once inside.</a:t>
            </a:r>
            <a:endParaRPr xmlns:a="http://schemas.openxmlformats.org/drawingml/2006/main"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OWN TARGET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chain of attack, step by step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1554480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64208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642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xmlns:a="http://schemas.openxmlformats.org/drawingml/2006/main"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6824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Enumeration</a:t>
            </a:r>
            <a:endParaRPr xmlns:a="http://schemas.openxmlformats.org/drawingml/2006/main"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port 80 and the routes /admin, /backup and /ping.php.</a:t>
            </a:r>
            <a:endParaRPr xmlns:a="http://schemas.openxmlformats.org/drawingml/2006/main"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549640" y="1801368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1801368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2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+ gobuster</a:t>
            </a:r>
            <a:endParaRPr xmlns:a="http://schemas.openxmlformats.org/drawingml/2006/main"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234440" y="2532888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642616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426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xmlns:a="http://schemas.openxmlformats.org/drawingml/2006/main"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660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 collection</a:t>
            </a:r>
            <a:endParaRPr xmlns:a="http://schemas.openxmlformats.org/drawingml/2006/main"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299008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leaked note reveals credentials and that the ping does not validate the entry.</a:t>
            </a:r>
            <a:endParaRPr xmlns:a="http://schemas.openxmlformats.org/drawingml/2006/main"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549640" y="2779776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277977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2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/backup/notes.txt</a:t>
            </a:r>
            <a:endParaRPr xmlns:a="http://schemas.openxmlformats.org/drawingml/2006/main"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234440" y="3511296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21024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E3B3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210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2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xmlns:a="http://schemas.openxmlformats.org/drawingml/2006/main"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36393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Exploitation</a:t>
            </a:r>
            <a:endParaRPr xmlns:a="http://schemas.openxmlformats.org/drawingml/2006/main"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396849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host=127.0.0.1;id in /ping.php gives code execution as www-data.</a:t>
            </a:r>
            <a:endParaRPr xmlns:a="http://schemas.openxmlformats.org/drawingml/2006/main"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49640" y="3758184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49640" y="375818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25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Injection</a:t>
            </a:r>
            <a:endParaRPr xmlns:a="http://schemas.openxmlformats.org/drawingml/2006/main"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234440" y="4489704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599432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5994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2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xmlns:a="http://schemas.openxmlformats.org/drawingml/2006/main"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4617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Foothold</a:t>
            </a:r>
            <a:endParaRPr xmlns:a="http://schemas.openxmlformats.org/drawingml/2006/main"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08760" y="49469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shell as www-data + user_flag capture.</a:t>
            </a:r>
            <a:endParaRPr xmlns:a="http://schemas.openxmlformats.org/drawingml/2006/main"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549640" y="4736592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49640" y="4736592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25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reverse shell</a:t>
            </a:r>
            <a:endParaRPr xmlns:a="http://schemas.openxmlformats.org/drawingml/2006/main"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234440" y="5468112"/>
            <a:ext cx="10378440" cy="859536"/>
          </a:xfrm>
          <a:prstGeom prst="roundRect">
            <a:avLst>
              <a:gd name="adj" fmla="val 851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5577840"/>
            <a:ext cx="640080" cy="640080"/>
          </a:xfrm>
          <a:prstGeom prst="ellipse">
            <a:avLst/>
          </a:prstGeom>
          <a:solidFill>
            <a:srgbClr val="1C2430"/>
          </a:solidFill>
          <a:ln w="25400">
            <a:solidFill>
              <a:srgbClr val="F851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577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2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xmlns:a="http://schemas.openxmlformats.org/drawingml/2006/main"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508760" y="5596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Climbing</a:t>
            </a:r>
            <a:endParaRPr xmlns:a="http://schemas.openxmlformats.org/drawingml/2006/main"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508760" y="59253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-l reveals find as root → root shell + root_flag.</a:t>
            </a:r>
            <a:endParaRPr xmlns:a="http://schemas.openxmlformats.org/drawingml/2006/main"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549640" y="5715000"/>
            <a:ext cx="2880360" cy="384048"/>
          </a:xfrm>
          <a:prstGeom prst="roundRect">
            <a:avLst>
              <a:gd name="adj" fmla="val 23810"/>
            </a:avLst>
          </a:prstGeom>
          <a:solidFill>
            <a:srgbClr val="1C2430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5715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25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find · GTFOBins</a:t>
            </a:r>
            <a:endParaRPr xmlns:a="http://schemas.openxmlformats.org/drawingml/2006/main"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TOOLS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Arsenal by phase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4767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476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xmlns:a="http://schemas.openxmlformats.org/drawingml/2006/main"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spc="100" kern="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ENUMERATION</a:t>
            </a:r>
            <a:endParaRPr xmlns:a="http://schemas.openxmlformats.org/drawingml/2006/main"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18745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· gobuster / dirbuster · ffuf · nikto · whatweb</a:t>
            </a:r>
            <a:endParaRPr xmlns:a="http://schemas.openxmlformats.org/drawingml/2006/main"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3639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363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xmlns:a="http://schemas.openxmlformats.org/drawingml/2006/main"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30632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spc="100" kern="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VULNERABILITIES</a:t>
            </a:r>
            <a:endParaRPr xmlns:a="http://schemas.openxmlformats.org/drawingml/2006/main"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3440" y="3063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searchsploit · Exploit-DB · Nmap NSE (--script vuln)</a:t>
            </a:r>
            <a:endParaRPr xmlns:a="http://schemas.openxmlformats.org/drawingml/2006/main"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2511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3251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xmlns:a="http://schemas.openxmlformats.org/drawingml/2006/main"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2519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spc="10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EXPLOITATION</a:t>
            </a:r>
            <a:endParaRPr xmlns:a="http://schemas.openxmlformats.org/drawingml/2006/main"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3440" y="42519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msfconsole (Metasploit) · sqlmap · manual exploits</a:t>
            </a:r>
            <a:endParaRPr xmlns:a="http://schemas.openxmlformats.org/drawingml/2006/main"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13832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5138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2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xmlns:a="http://schemas.openxmlformats.org/drawingml/2006/main"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08760" y="5440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spc="100" kern="0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CLIMBING</a:t>
            </a:r>
            <a:endParaRPr xmlns:a="http://schemas.openxmlformats.org/drawingml/2006/main"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54406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LinPEAS · lse.sh · pspy · GTFOBins</a:t>
            </a:r>
            <a:endParaRPr xmlns:a="http://schemas.openxmlformats.org/drawingml/2006/main"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1200" b="1" spc="200" kern="0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LIMITS</a:t>
            </a:r>
            <a:endParaRPr xmlns:a="http://schemas.openxmlformats.org/drawingml/2006/main"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l" indent="0" marL="0">
              <a:buNone/>
            </a:pPr>
            <a:r xmlns:a="http://schemas.openxmlformats.org/drawingml/2006/main">
              <a:rPr lang="en" sz="30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Isolation and ethics</a:t>
            </a:r>
            <a:endParaRPr xmlns:a="http://schemas.openxmlformats.org/drawingml/2006/main"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61B22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340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xmlns:a="http://schemas.openxmlformats.org/drawingml/2006/main"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containers are intentionally vulnerable. Treat them as hazardous material.</a:t>
            </a:r>
            <a:endParaRPr xmlns:a="http://schemas.openxmlformats.org/drawingml/2006/main"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218688"/>
            <a:ext cx="146304" cy="146304"/>
          </a:xfrm>
          <a:prstGeom prst="ellipse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 on localhost</a:t>
            </a:r>
            <a:endParaRPr xmlns:a="http://schemas.openxmlformats.org/drawingml/2006/main"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are only exposed to 127.0.0.1: they do not reach your local network or the internet.</a:t>
            </a:r>
            <a:endParaRPr xmlns:a="http://schemas.openxmlformats.org/drawingml/2006/main"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83464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3218688"/>
            <a:ext cx="146304" cy="146304"/>
          </a:xfrm>
          <a:prstGeom prst="ellipse">
            <a:avLst/>
          </a:prstGeom>
          <a:solidFill>
            <a:srgbClr val="58A6FF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30906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Never against third parties</a:t>
            </a:r>
            <a:endParaRPr xmlns:a="http://schemas.openxmlformats.org/drawingml/2006/main"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5204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only in your lab or on platforms that authorize the attack (TryHackMe, HTB, VulnHub).</a:t>
            </a:r>
            <a:endParaRPr xmlns:a="http://schemas.openxmlformats.org/drawingml/2006/main"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90872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5074920"/>
            <a:ext cx="146304" cy="146304"/>
          </a:xfrm>
          <a:prstGeom prst="ellipse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and authorization</a:t>
            </a:r>
            <a:endParaRPr xmlns:a="http://schemas.openxmlformats.org/drawingml/2006/main"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68680" y="53766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real assignment, the scope and written permission are 50% of the work. Always document it.</a:t>
            </a:r>
            <a:endParaRPr xmlns:a="http://schemas.openxmlformats.org/drawingml/2006/main"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690872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5074920"/>
            <a:ext cx="146304" cy="146304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494690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 erase</a:t>
            </a:r>
            <a:endParaRPr xmlns:a="http://schemas.openxmlformats.org/drawingml/2006/main"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37960" y="53766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1800"/>
              </a:lnSpc>
              <a:buNone/>
            </a:pPr>
            <a:r xmlns:a="http://schemas.openxmlformats.org/drawingml/2006/main">
              <a:rPr lang="en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clean removes containers, volumes, and images when you end the session.</a:t>
            </a:r>
            <a:endParaRPr xmlns:a="http://schemas.openxmlformats.org/drawingml/2006/main"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4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root@labnet:~#</a:t>
            </a:r>
            <a:endParaRPr xmlns:a="http://schemas.openxmlformats.org/drawingml/2006/main"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lnSpc>
                <a:spcPts val="4200"/>
              </a:lnSpc>
              <a:buNone/>
            </a:pPr>
            <a:r xmlns:a="http://schemas.openxmlformats.org/drawingml/2006/main">
              <a:rPr lang="en" sz="3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with your own target</a:t>
            </a:r>
            <a:endParaRPr xmlns:a="http://schemas.openxmlformats.org/drawingml/2006/main" lang="en-US" sz="3400" dirty="0"/>
          </a:p>
          <a:p>
            <a:pPr xmlns:a="http://schemas.openxmlformats.org/drawingml/2006/main" indent="0" marL="0">
              <a:lnSpc>
                <a:spcPts val="4200"/>
              </a:lnSpc>
              <a:buNone/>
            </a:pPr>
            <a:r xmlns:a="http://schemas.openxmlformats.org/drawingml/2006/main">
              <a:rPr lang="en" sz="3400" b="1" dirty="0">
                <a:solidFill>
                  <a:srgbClr val="56D3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complete the chain to root.</a:t>
            </a:r>
            <a:endParaRPr xmlns:a="http://schemas.openxmlformats.org/drawingml/2006/main"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xmlns:a="http://schemas.openxmlformats.org/drawingml/2006/main"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34930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make-up</a:t>
            </a:r>
            <a:endParaRPr xmlns:a="http://schemas.openxmlformats.org/drawingml/2006/main"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480560" y="3493008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the laboratory and check the 3 objectives.</a:t>
            </a:r>
            <a:endParaRPr xmlns:a="http://schemas.openxmlformats.org/drawingml/2006/main"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427024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xmlns:a="http://schemas.openxmlformats.org/drawingml/2006/main"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424281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vulnerable-web</a:t>
            </a:r>
            <a:endParaRPr xmlns:a="http://schemas.openxmlformats.org/drawingml/2006/main"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80560" y="4242816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whole chain: enumeration → root.</a:t>
            </a:r>
            <a:endParaRPr xmlns:a="http://schemas.openxmlformats.org/drawingml/2006/main"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502005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BC8C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xmlns:a="http://schemas.openxmlformats.org/drawingml/2006/main"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99262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DVWA Juice Shop</a:t>
            </a:r>
            <a:endParaRPr xmlns:a="http://schemas.openxmlformats.org/drawingml/2006/main"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4992624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deeper into specific web vulnerabilities.</a:t>
            </a:r>
            <a:endParaRPr xmlns:a="http://schemas.openxmlformats.org/drawingml/2006/main"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7698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61B22"/>
          </a:solidFill>
          <a:ln w="1905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769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algn="ctr" indent="0" marL="0">
              <a:buNone/>
            </a:pPr>
            <a:r xmlns:a="http://schemas.openxmlformats.org/drawingml/2006/main">
              <a:rPr lang="en" sz="1600" b="1" dirty="0">
                <a:solidFill>
                  <a:srgbClr val="E3B3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xmlns:a="http://schemas.openxmlformats.org/drawingml/2006/main"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7424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5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</a:t>
            </a:r>
            <a:endParaRPr xmlns:a="http://schemas.openxmlformats.org/drawingml/2006/main"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80560" y="574243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3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Steps, evidence, impact and remediation in your writeup.</a:t>
            </a:r>
            <a:endParaRPr xmlns:a="http://schemas.openxmlformats.org/drawingml/2006/main"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xmlns:a="http://schemas.openxmlformats.org/drawingml/2006/main" indent="0" marL="0">
              <a:buNone/>
            </a:pPr>
            <a:r xmlns:a="http://schemas.openxmlformats.org/drawingml/2006/main">
              <a:rPr lang="en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GUIA-METODOLOGY.md for details of each phase.</a:t>
            </a:r>
            <a:endParaRPr xmlns:a="http://schemas.openxmlformats.org/drawingml/2006/main"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2026-07-30T14:28:02Z</dcterms:created>
  <dcterms:modified xsi:type="dcterms:W3CDTF">2026-07-30T14:28:02Z</dcterms:modified>
</cp:coreProperties>
</file>